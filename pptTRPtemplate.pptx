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57" r:id="rId3"/>
    <p:sldId id="294" r:id="rId4"/>
    <p:sldId id="258" r:id="rId5"/>
    <p:sldId id="259" r:id="rId6"/>
    <p:sldId id="260" r:id="rId7"/>
    <p:sldId id="295" r:id="rId8"/>
    <p:sldId id="261" r:id="rId9"/>
    <p:sldId id="262" r:id="rId10"/>
    <p:sldId id="265"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08AD6C-8A6C-45D6-B525-F4BD540D2D63}" v="4" dt="2026-09-30T12:54:09.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Rogers" userId="a8e791c9-f524-4ba3-87d4-fe7d83daacff" providerId="ADAL" clId="{9D0A74C9-AB7B-441E-8FAD-EE885BBD0574}"/>
    <pc:docChg chg="modSld">
      <pc:chgData name="Josh Rogers" userId="a8e791c9-f524-4ba3-87d4-fe7d83daacff" providerId="ADAL" clId="{9D0A74C9-AB7B-441E-8FAD-EE885BBD0574}" dt="2026-09-30T12:54:09.378" v="6" actId="767"/>
      <pc:docMkLst>
        <pc:docMk/>
      </pc:docMkLst>
      <pc:sldChg chg="addSp delSp modSp">
        <pc:chgData name="Josh Rogers" userId="a8e791c9-f524-4ba3-87d4-fe7d83daacff" providerId="ADAL" clId="{9D0A74C9-AB7B-441E-8FAD-EE885BBD0574}" dt="2026-09-30T12:54:09.378" v="6" actId="767"/>
        <pc:sldMkLst>
          <pc:docMk/>
          <pc:sldMk cId="3774216600" sldId="258"/>
        </pc:sldMkLst>
        <pc:spChg chg="add del mod">
          <ac:chgData name="Josh Rogers" userId="a8e791c9-f524-4ba3-87d4-fe7d83daacff" providerId="ADAL" clId="{9D0A74C9-AB7B-441E-8FAD-EE885BBD0574}" dt="2026-09-30T12:54:07.948" v="1"/>
          <ac:spMkLst>
            <pc:docMk/>
            <pc:sldMk cId="3774216600" sldId="258"/>
            <ac:spMk id="2" creationId="{E897C7E1-FC7C-843B-9407-FC9CD778C550}"/>
          </ac:spMkLst>
        </pc:spChg>
        <pc:spChg chg="add del mod">
          <ac:chgData name="Josh Rogers" userId="a8e791c9-f524-4ba3-87d4-fe7d83daacff" providerId="ADAL" clId="{9D0A74C9-AB7B-441E-8FAD-EE885BBD0574}" dt="2026-09-30T12:54:08.686" v="3"/>
          <ac:spMkLst>
            <pc:docMk/>
            <pc:sldMk cId="3774216600" sldId="258"/>
            <ac:spMk id="6" creationId="{DE4C0AFB-BCEB-2493-3E65-7563B9015AA4}"/>
          </ac:spMkLst>
        </pc:spChg>
        <pc:spChg chg="add del mod">
          <ac:chgData name="Josh Rogers" userId="a8e791c9-f524-4ba3-87d4-fe7d83daacff" providerId="ADAL" clId="{9D0A74C9-AB7B-441E-8FAD-EE885BBD0574}" dt="2026-09-30T12:54:09.258" v="5"/>
          <ac:spMkLst>
            <pc:docMk/>
            <pc:sldMk cId="3774216600" sldId="258"/>
            <ac:spMk id="7" creationId="{572831E5-A273-51B9-9778-026381306239}"/>
          </ac:spMkLst>
        </pc:spChg>
        <pc:spChg chg="add mod">
          <ac:chgData name="Josh Rogers" userId="a8e791c9-f524-4ba3-87d4-fe7d83daacff" providerId="ADAL" clId="{9D0A74C9-AB7B-441E-8FAD-EE885BBD0574}" dt="2026-09-30T12:54:09.378" v="6" actId="767"/>
          <ac:spMkLst>
            <pc:docMk/>
            <pc:sldMk cId="3774216600" sldId="258"/>
            <ac:spMk id="8" creationId="{DE6CC36E-1148-1C39-4792-2690406AA76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9394CAA-3257-DC71-3173-2FFF4E120F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B790A09-EC16-9D31-598E-FEB3079AA7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BD1027-71D7-4113-8852-0FEA76917E39}" type="datetimeFigureOut">
              <a:rPr lang="en-GB" smtClean="0"/>
              <a:t>30/09/2026</a:t>
            </a:fld>
            <a:endParaRPr lang="en-GB"/>
          </a:p>
        </p:txBody>
      </p:sp>
      <p:sp>
        <p:nvSpPr>
          <p:cNvPr id="4" name="Footer Placeholder 3">
            <a:extLst>
              <a:ext uri="{FF2B5EF4-FFF2-40B4-BE49-F238E27FC236}">
                <a16:creationId xmlns:a16="http://schemas.microsoft.com/office/drawing/2014/main" id="{53CA6470-6D72-DDE3-9A3A-0D9FE71417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4861804B-8C90-EF32-8041-0D749C90B5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EEEF93-13C8-4112-8549-414B3862EF53}" type="slidenum">
              <a:rPr lang="en-GB" smtClean="0"/>
              <a:t>‹#›</a:t>
            </a:fld>
            <a:endParaRPr lang="en-GB"/>
          </a:p>
        </p:txBody>
      </p:sp>
    </p:spTree>
    <p:extLst>
      <p:ext uri="{BB962C8B-B14F-4D97-AF65-F5344CB8AC3E}">
        <p14:creationId xmlns:p14="http://schemas.microsoft.com/office/powerpoint/2010/main" val="636710889"/>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93F713-85D9-45F5-802F-38DC7EF8CBCC}" type="datetimeFigureOut">
              <a:rPr lang="en-GB" smtClean="0"/>
              <a:t>30/09/2026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655A9C-BD99-43B3-85DC-89A50B4B79AC}" type="slidenum">
              <a:rPr lang="en-GB" smtClean="0"/>
              <a:t>‹#›</a:t>
            </a:fld>
            <a:endParaRPr lang="en-GB"/>
          </a:p>
        </p:txBody>
      </p:sp>
    </p:spTree>
    <p:extLst>
      <p:ext uri="{BB962C8B-B14F-4D97-AF65-F5344CB8AC3E}">
        <p14:creationId xmlns:p14="http://schemas.microsoft.com/office/powerpoint/2010/main" val="1849286035"/>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en-GB"/>
          </a:p>
        </p:txBody>
      </p:sp>
    </p:spTree>
    <p:extLst>
      <p:ext uri="{BB962C8B-B14F-4D97-AF65-F5344CB8AC3E}">
        <p14:creationId xmlns:p14="http://schemas.microsoft.com/office/powerpoint/2010/main" val="822411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All vehicles will travel to and from the site via the A562 and Back Lane. Vehicles could travel to or from the west or east, although it’s more likely only inbound vehicles would travel from the east due to the radii constraints at the Back Lane junction</a:t>
            </a:r>
          </a:p>
        </p:txBody>
      </p:sp>
      <p:sp>
        <p:nvSpPr>
          <p:cNvPr id="4" name="Slide Number Placeholder 3"/>
          <p:cNvSpPr>
            <a:spLocks noGrp="1"/>
          </p:cNvSpPr>
          <p:nvPr>
            <p:ph type="sldNum" sz="quarter" idx="5"/>
          </p:nvPr>
        </p:nvSpPr>
        <p:spPr/>
        <p:txBody>
          <a:bodyPr/>
          <a:lstStyle/>
          <a:p>
            <a:fld id="{1ACAB4B1-18AF-BE4E-AC34-7BE095BDC15F}" type="slidenum">
              <a:rPr lang="en-US" smtClean="0"/>
              <a:t>7</a:t>
            </a:fld>
            <a:endParaRPr lang="en-US"/>
          </a:p>
        </p:txBody>
      </p:sp>
    </p:spTree>
    <p:extLst>
      <p:ext uri="{BB962C8B-B14F-4D97-AF65-F5344CB8AC3E}">
        <p14:creationId xmlns:p14="http://schemas.microsoft.com/office/powerpoint/2010/main" val="2103163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en-GB"/>
          </a:p>
        </p:txBody>
      </p:sp>
    </p:spTree>
    <p:extLst>
      <p:ext uri="{BB962C8B-B14F-4D97-AF65-F5344CB8AC3E}">
        <p14:creationId xmlns:p14="http://schemas.microsoft.com/office/powerpoint/2010/main" val="1843035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ct val="0"/>
              </a:spcBef>
              <a:spcAft>
                <a:spcPts val="1800"/>
              </a:spcAft>
            </a:pPr>
            <a:r>
              <a:rPr lang="en-GB" sz="1200">
                <a:solidFill>
                  <a:schemeClr val="bg1"/>
                </a:solidFill>
                <a:latin typeface="+mj-lt"/>
                <a:ea typeface="+mj-ea"/>
                <a:cs typeface="+mj-cs"/>
              </a:rPr>
              <a:t>Andrew Dowell </a:t>
            </a:r>
          </a:p>
          <a:p>
            <a:pPr>
              <a:lnSpc>
                <a:spcPct val="90000"/>
              </a:lnSpc>
              <a:spcBef>
                <a:spcPct val="0"/>
              </a:spcBef>
              <a:spcAft>
                <a:spcPts val="1800"/>
              </a:spcAft>
            </a:pPr>
            <a:r>
              <a:rPr lang="en-GB" sz="1200">
                <a:solidFill>
                  <a:schemeClr val="bg1"/>
                </a:solidFill>
                <a:latin typeface="+mj-lt"/>
                <a:ea typeface="+mj-ea"/>
                <a:cs typeface="+mj-cs"/>
              </a:rPr>
              <a:t>Associate Planner, Third Revolution Projects</a:t>
            </a:r>
          </a:p>
          <a:p>
            <a:pPr>
              <a:lnSpc>
                <a:spcPct val="90000"/>
              </a:lnSpc>
              <a:spcBef>
                <a:spcPct val="0"/>
              </a:spcBef>
              <a:spcAft>
                <a:spcPts val="1800"/>
              </a:spcAft>
            </a:pPr>
            <a:r>
              <a:rPr lang="en-GB" sz="1200">
                <a:solidFill>
                  <a:schemeClr val="bg1"/>
                </a:solidFill>
                <a:latin typeface="+mj-lt"/>
                <a:ea typeface="+mj-ea"/>
                <a:cs typeface="+mj-cs"/>
              </a:rPr>
              <a:t>Andrew.dowell@thirdrevolutionprojects.co.uk</a:t>
            </a:r>
          </a:p>
          <a:p>
            <a:endParaRPr lang="en-GB"/>
          </a:p>
        </p:txBody>
      </p:sp>
      <p:sp>
        <p:nvSpPr>
          <p:cNvPr id="4" name="Header Placeholder 3"/>
          <p:cNvSpPr>
            <a:spLocks noGrp="1"/>
          </p:cNvSpPr>
          <p:nvPr>
            <p:ph type="hdr" sz="quarter"/>
          </p:nvPr>
        </p:nvSpPr>
        <p:spPr/>
        <p:txBody>
          <a:bodyPr/>
          <a:lstStyle/>
          <a:p>
            <a:endParaRPr lang="en-GB"/>
          </a:p>
        </p:txBody>
      </p:sp>
    </p:spTree>
    <p:extLst>
      <p:ext uri="{BB962C8B-B14F-4D97-AF65-F5344CB8AC3E}">
        <p14:creationId xmlns:p14="http://schemas.microsoft.com/office/powerpoint/2010/main" val="613606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A2531-42B2-0FEC-07A8-28BAC00DDB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4AB1288-1094-AD32-8571-B34FA43C5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D8272EA-377B-6B4F-63F3-4FF547FFABE9}"/>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5" name="Footer Placeholder 4">
            <a:extLst>
              <a:ext uri="{FF2B5EF4-FFF2-40B4-BE49-F238E27FC236}">
                <a16:creationId xmlns:a16="http://schemas.microsoft.com/office/drawing/2014/main" id="{0F9D2F04-1531-4B40-C698-41325F87C6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2F6BDA-C769-CDBD-3515-09887ECC4928}"/>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865278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0B440-2F9D-D728-8839-3DDEF491C12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1003256-6672-67D0-A934-B73BEA8C2B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76E7D1-0E39-D05C-E847-8CDE39F400E1}"/>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5" name="Footer Placeholder 4">
            <a:extLst>
              <a:ext uri="{FF2B5EF4-FFF2-40B4-BE49-F238E27FC236}">
                <a16:creationId xmlns:a16="http://schemas.microsoft.com/office/drawing/2014/main" id="{8C3FB710-A2C4-0A24-F901-A45FD31A9C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6BB22-035C-8CFD-BC4E-56C92926EB41}"/>
              </a:ext>
            </a:extLst>
          </p:cNvPr>
          <p:cNvSpPr>
            <a:spLocks noGrp="1"/>
          </p:cNvSpPr>
          <p:nvPr>
            <p:ph type="sldNum" sz="quarter" idx="12"/>
          </p:nvPr>
        </p:nvSpPr>
        <p:spPr/>
        <p:txBody>
          <a:bodyPr/>
          <a:lstStyle/>
          <a:p>
            <a:fld id="{CE659D34-EE3F-47FD-9A7C-0C9A3E23B505}" type="slidenum">
              <a:rPr lang="en-GB" smtClean="0"/>
              <a:t>‹#›</a:t>
            </a:fld>
            <a:endParaRPr lang="en-GB"/>
          </a:p>
        </p:txBody>
      </p:sp>
      <p:sp>
        <p:nvSpPr>
          <p:cNvPr id="8" name="Picture Placeholder 7">
            <a:extLst>
              <a:ext uri="{FF2B5EF4-FFF2-40B4-BE49-F238E27FC236}">
                <a16:creationId xmlns:a16="http://schemas.microsoft.com/office/drawing/2014/main" id="{EF045DC2-65D1-52B7-8DF6-2D0A7D138669}"/>
              </a:ext>
            </a:extLst>
          </p:cNvPr>
          <p:cNvSpPr>
            <a:spLocks noGrp="1"/>
          </p:cNvSpPr>
          <p:nvPr>
            <p:ph type="pic" sz="quarter" idx="13"/>
          </p:nvPr>
        </p:nvSpPr>
        <p:spPr>
          <a:xfrm>
            <a:off x="9523562" y="230189"/>
            <a:ext cx="2303253" cy="1012824"/>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endParaRPr lang="en-GB"/>
          </a:p>
        </p:txBody>
      </p:sp>
    </p:spTree>
    <p:extLst>
      <p:ext uri="{BB962C8B-B14F-4D97-AF65-F5344CB8AC3E}">
        <p14:creationId xmlns:p14="http://schemas.microsoft.com/office/powerpoint/2010/main" val="2687865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DED68-5662-EC74-3ED7-A1AC81F817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6F441F1-F6B1-7440-18CF-D114FF1A22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751392-7832-A04A-C6E1-54766641B919}"/>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5" name="Footer Placeholder 4">
            <a:extLst>
              <a:ext uri="{FF2B5EF4-FFF2-40B4-BE49-F238E27FC236}">
                <a16:creationId xmlns:a16="http://schemas.microsoft.com/office/drawing/2014/main" id="{9D4EB122-E431-60C5-39BF-1EF3AB55F3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7C56EC-1AE9-17F4-3FBC-464D003AF9DA}"/>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1119905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7960-6477-9280-BBDC-9226886A701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509B025-AEE9-4BC6-8675-DAAE569DC5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38B8BD2-EAB1-A1FB-4EDA-690A1856A1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BA2E6D-B779-655B-237A-F367E2FDA67B}"/>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6" name="Footer Placeholder 5">
            <a:extLst>
              <a:ext uri="{FF2B5EF4-FFF2-40B4-BE49-F238E27FC236}">
                <a16:creationId xmlns:a16="http://schemas.microsoft.com/office/drawing/2014/main" id="{0EFC956C-D013-E186-3FEE-9F76C4E702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E45F90-759E-474D-8327-58A8744C6F71}"/>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3496864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4E61-C6B8-4201-A749-049FC94A825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E6C62F7-1AED-1967-7ACF-D7AACC57C5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162621-0E6D-93AE-E7B5-1EAC1B6969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24FB2B-DF8D-91AE-2F9E-EF17C43747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A051A2-6146-3203-20F0-5E90EA1303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3B5D4AE-2180-7ACB-69B1-1572F87A524B}"/>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8" name="Footer Placeholder 7">
            <a:extLst>
              <a:ext uri="{FF2B5EF4-FFF2-40B4-BE49-F238E27FC236}">
                <a16:creationId xmlns:a16="http://schemas.microsoft.com/office/drawing/2014/main" id="{C710D87E-4835-E817-469C-672A710C52D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C68D3CC-CEA7-A686-413B-4B2EDA9D6AD2}"/>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4160838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5690-BDD8-4A23-7D4E-9A2ACB7E195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024CD05-95F5-E563-8558-0E5C24B96F12}"/>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4" name="Footer Placeholder 3">
            <a:extLst>
              <a:ext uri="{FF2B5EF4-FFF2-40B4-BE49-F238E27FC236}">
                <a16:creationId xmlns:a16="http://schemas.microsoft.com/office/drawing/2014/main" id="{A52F5C90-DFCE-6F87-08AE-F2A7883587D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71EC016-525F-FA80-8D0A-BA4DD22BD7DC}"/>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1919421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6629E2-79B0-58AD-95E1-66D2901BC63D}"/>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3" name="Footer Placeholder 2">
            <a:extLst>
              <a:ext uri="{FF2B5EF4-FFF2-40B4-BE49-F238E27FC236}">
                <a16:creationId xmlns:a16="http://schemas.microsoft.com/office/drawing/2014/main" id="{5DCEAE17-4623-E5C2-557F-B94E5BA4F12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DD3BCA-1275-C3AE-680C-6A9DB68D04BE}"/>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186716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184E-12D1-BC66-D515-A60868A36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5747A3E-4224-48F9-3EFD-B4404DB92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1E1775F-05B4-4563-8D30-4F641F09F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75B6B8-7A33-3320-3411-4B8FF7A8D11C}"/>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6" name="Footer Placeholder 5">
            <a:extLst>
              <a:ext uri="{FF2B5EF4-FFF2-40B4-BE49-F238E27FC236}">
                <a16:creationId xmlns:a16="http://schemas.microsoft.com/office/drawing/2014/main" id="{A9AAB052-2169-B956-95A4-7C8EB4A4875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3225237-75B3-B4B3-941E-5FF0306B7BBB}"/>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1622605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966CA-5D44-C04A-8C8B-4A8B9F5E8C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FCF0EB8-0BE7-DBF6-B22C-F43E6A0184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113E6FC-9DE1-EE76-C132-D398757E7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126F-C754-A55A-34F8-6DADD502E399}"/>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6" name="Footer Placeholder 5">
            <a:extLst>
              <a:ext uri="{FF2B5EF4-FFF2-40B4-BE49-F238E27FC236}">
                <a16:creationId xmlns:a16="http://schemas.microsoft.com/office/drawing/2014/main" id="{BDD1AE07-1406-0EF3-E200-0B8F26A106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F7678B-99D4-CA33-1862-91CC4F0A6D75}"/>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3523726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D446-A4C3-6B03-4766-2A769F8797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C0CB18B-C154-16EC-9921-FF69D4B9D7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7EA64B-9033-6A64-0663-D75369094579}"/>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5" name="Footer Placeholder 4">
            <a:extLst>
              <a:ext uri="{FF2B5EF4-FFF2-40B4-BE49-F238E27FC236}">
                <a16:creationId xmlns:a16="http://schemas.microsoft.com/office/drawing/2014/main" id="{93819C18-D432-F335-B723-B597FE0602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17B6AE-8F3C-46EA-4767-A35E1B376578}"/>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3603022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8FD63C-BB2C-BCE8-9DF2-D6E40A9B84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5C49459-51C9-856C-6248-856DC12E92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C55D8CB-EC75-A627-7809-4AAC6DFA5203}"/>
              </a:ext>
            </a:extLst>
          </p:cNvPr>
          <p:cNvSpPr>
            <a:spLocks noGrp="1"/>
          </p:cNvSpPr>
          <p:nvPr>
            <p:ph type="dt" sz="half" idx="10"/>
          </p:nvPr>
        </p:nvSpPr>
        <p:spPr/>
        <p:txBody>
          <a:bodyPr/>
          <a:lstStyle/>
          <a:p>
            <a:fld id="{42C35863-F719-4D0B-816E-6F6777A556B9}" type="datetimeFigureOut">
              <a:rPr lang="en-GB" smtClean="0"/>
              <a:t>30/09/2026</a:t>
            </a:fld>
            <a:endParaRPr lang="en-GB"/>
          </a:p>
        </p:txBody>
      </p:sp>
      <p:sp>
        <p:nvSpPr>
          <p:cNvPr id="5" name="Footer Placeholder 4">
            <a:extLst>
              <a:ext uri="{FF2B5EF4-FFF2-40B4-BE49-F238E27FC236}">
                <a16:creationId xmlns:a16="http://schemas.microsoft.com/office/drawing/2014/main" id="{CAAA065C-E8ED-D340-DAC0-523B18131D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D5BB1A-9A05-FD62-56A2-6E17E709C270}"/>
              </a:ext>
            </a:extLst>
          </p:cNvPr>
          <p:cNvSpPr>
            <a:spLocks noGrp="1"/>
          </p:cNvSpPr>
          <p:nvPr>
            <p:ph type="sldNum" sz="quarter" idx="12"/>
          </p:nvPr>
        </p:nvSpPr>
        <p:spPr/>
        <p:txBody>
          <a:bodyPr/>
          <a:lstStyle/>
          <a:p>
            <a:fld id="{CE659D34-EE3F-47FD-9A7C-0C9A3E23B505}" type="slidenum">
              <a:rPr lang="en-GB" smtClean="0"/>
              <a:t>‹#›</a:t>
            </a:fld>
            <a:endParaRPr lang="en-GB"/>
          </a:p>
        </p:txBody>
      </p:sp>
    </p:spTree>
    <p:extLst>
      <p:ext uri="{BB962C8B-B14F-4D97-AF65-F5344CB8AC3E}">
        <p14:creationId xmlns:p14="http://schemas.microsoft.com/office/powerpoint/2010/main" val="386020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867D6-66FD-E963-C595-BEA55C327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CA280BE-BAB3-6CBE-E1D5-068F37879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ECAB627-A7B9-77E1-DFF3-0B21F38A30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C35863-F719-4D0B-816E-6F6777A556B9}" type="datetimeFigureOut">
              <a:rPr lang="en-GB" smtClean="0"/>
              <a:t>30/09/2026</a:t>
            </a:fld>
            <a:endParaRPr lang="en-GB"/>
          </a:p>
        </p:txBody>
      </p:sp>
      <p:sp>
        <p:nvSpPr>
          <p:cNvPr id="5" name="Footer Placeholder 4">
            <a:extLst>
              <a:ext uri="{FF2B5EF4-FFF2-40B4-BE49-F238E27FC236}">
                <a16:creationId xmlns:a16="http://schemas.microsoft.com/office/drawing/2014/main" id="{679125AC-D0AD-288E-10A8-8151632A45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D163691-7953-9464-0644-DB0F9F2DAB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59D34-EE3F-47FD-9A7C-0C9A3E23B505}" type="slidenum">
              <a:rPr lang="en-GB" smtClean="0"/>
              <a:t>‹#›</a:t>
            </a:fld>
            <a:endParaRPr lang="en-GB"/>
          </a:p>
        </p:txBody>
      </p:sp>
    </p:spTree>
    <p:extLst>
      <p:ext uri="{BB962C8B-B14F-4D97-AF65-F5344CB8AC3E}">
        <p14:creationId xmlns:p14="http://schemas.microsoft.com/office/powerpoint/2010/main" val="2943782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A59B7E7-6288-2765-DA4D-3D37896FDF16}"/>
              </a:ext>
            </a:extLst>
          </p:cNvPr>
          <p:cNvSpPr/>
          <p:nvPr/>
        </p:nvSpPr>
        <p:spPr>
          <a:xfrm>
            <a:off x="-120316" y="4674334"/>
            <a:ext cx="12440653" cy="22799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7977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D465C4-F98C-8E08-45B3-2755539E505A}"/>
              </a:ext>
            </a:extLst>
          </p:cNvPr>
          <p:cNvSpPr txBox="1"/>
          <p:nvPr/>
        </p:nvSpPr>
        <p:spPr>
          <a:xfrm>
            <a:off x="578358" y="330151"/>
            <a:ext cx="6094476" cy="400110"/>
          </a:xfrm>
          <a:prstGeom prst="rect">
            <a:avLst/>
          </a:prstGeom>
          <a:noFill/>
        </p:spPr>
        <p:txBody>
          <a:bodyPr wrap="square">
            <a:spAutoFit/>
          </a:bodyPr>
          <a:lstStyle/>
          <a:p>
            <a:r>
              <a:rPr lang="en-GB" sz="2000" dirty="0">
                <a:solidFill>
                  <a:schemeClr val="accent1">
                    <a:lumMod val="50000"/>
                  </a:schemeClr>
                </a:solidFill>
              </a:rPr>
              <a:t>Meeting Attendees </a:t>
            </a:r>
            <a:endParaRPr lang="en-GB" sz="2000" dirty="0"/>
          </a:p>
        </p:txBody>
      </p:sp>
      <p:sp>
        <p:nvSpPr>
          <p:cNvPr id="4" name="TextBox 3">
            <a:extLst>
              <a:ext uri="{FF2B5EF4-FFF2-40B4-BE49-F238E27FC236}">
                <a16:creationId xmlns:a16="http://schemas.microsoft.com/office/drawing/2014/main" id="{A5C2BC55-F4CF-8BFE-338C-4F172191D5DD}"/>
              </a:ext>
            </a:extLst>
          </p:cNvPr>
          <p:cNvSpPr txBox="1"/>
          <p:nvPr/>
        </p:nvSpPr>
        <p:spPr>
          <a:xfrm>
            <a:off x="688086" y="1106424"/>
            <a:ext cx="11135106" cy="2585323"/>
          </a:xfrm>
          <a:prstGeom prst="rect">
            <a:avLst/>
          </a:prstGeom>
          <a:noFill/>
        </p:spPr>
        <p:txBody>
          <a:bodyPr wrap="square" rtlCol="0">
            <a:spAutoFit/>
          </a:bodyPr>
          <a:lstStyle/>
          <a:p>
            <a:pPr marL="285750" indent="-285750">
              <a:buFont typeface="Wingdings" panose="05000000000000000000" pitchFamily="2" charset="2"/>
              <a:buChar char="§"/>
            </a:pPr>
            <a:r>
              <a:rPr lang="en-GB" sz="1800" b="0" i="0" u="none" strike="noStrike" baseline="0" dirty="0">
                <a:solidFill>
                  <a:srgbClr val="000000"/>
                </a:solidFill>
                <a:latin typeface="Calibri" panose="020F0502020204030204" pitchFamily="34" charset="0"/>
              </a:rPr>
              <a:t>Liz Alexander, Planning Director, Third Revolution Projects </a:t>
            </a:r>
          </a:p>
          <a:p>
            <a:pPr marL="285750" indent="-285750">
              <a:buFont typeface="Wingdings" panose="05000000000000000000" pitchFamily="2" charset="2"/>
              <a:buChar char="§"/>
            </a:pPr>
            <a:r>
              <a:rPr lang="en-GB" dirty="0">
                <a:solidFill>
                  <a:srgbClr val="000000"/>
                </a:solidFill>
                <a:latin typeface="Calibri" panose="020F0502020204030204" pitchFamily="34" charset="0"/>
              </a:rPr>
              <a:t>Sandy Scott, Senior Planner, Third Revolution Projects</a:t>
            </a:r>
            <a:endParaRPr lang="en-GB" sz="1800" b="0" i="0" u="none" strike="noStrike" baseline="0" dirty="0">
              <a:solidFill>
                <a:srgbClr val="000000"/>
              </a:solidFill>
              <a:latin typeface="Calibri" panose="020F0502020204030204" pitchFamily="34" charset="0"/>
            </a:endParaRPr>
          </a:p>
          <a:p>
            <a:pPr marL="285750" indent="-285750">
              <a:buFont typeface="Wingdings" panose="05000000000000000000" pitchFamily="2" charset="2"/>
              <a:buChar char="§"/>
            </a:pPr>
            <a:r>
              <a:rPr lang="en-GB" sz="1800" b="0" i="0" u="none" strike="noStrike" baseline="0" dirty="0">
                <a:solidFill>
                  <a:srgbClr val="000000"/>
                </a:solidFill>
                <a:latin typeface="Calibri" panose="020F0502020204030204" pitchFamily="34" charset="0"/>
              </a:rPr>
              <a:t>Josh Rogers, Graduate Planner, Third Revolution Projects</a:t>
            </a:r>
          </a:p>
          <a:p>
            <a:pPr marL="285750" indent="-285750">
              <a:buFont typeface="Wingdings" panose="05000000000000000000" pitchFamily="2" charset="2"/>
              <a:buChar char="§"/>
            </a:pPr>
            <a:r>
              <a:rPr lang="en-GB" sz="1800" b="0" i="0" u="none" strike="noStrike" baseline="0" dirty="0">
                <a:solidFill>
                  <a:srgbClr val="000000"/>
                </a:solidFill>
                <a:latin typeface="Calibri" panose="020F0502020204030204" pitchFamily="34" charset="0"/>
              </a:rPr>
              <a:t>Corey Isolda, Senior Development Manager, Renewable Connections </a:t>
            </a:r>
          </a:p>
          <a:p>
            <a:pPr marL="285750" indent="-285750">
              <a:buFont typeface="Wingdings" panose="05000000000000000000" pitchFamily="2" charset="2"/>
              <a:buChar char="§"/>
            </a:pPr>
            <a:r>
              <a:rPr lang="en-GB" dirty="0">
                <a:solidFill>
                  <a:srgbClr val="000000"/>
                </a:solidFill>
                <a:latin typeface="Calibri" panose="020F0502020204030204" pitchFamily="34" charset="0"/>
              </a:rPr>
              <a:t>Jennifer Cheung, Project Assistant, Renewable Connections</a:t>
            </a:r>
          </a:p>
          <a:p>
            <a:pPr marL="285750" indent="-285750">
              <a:buFont typeface="Wingdings" panose="05000000000000000000" pitchFamily="2" charset="2"/>
              <a:buChar char="§"/>
            </a:pPr>
            <a:r>
              <a:rPr lang="en-GB" dirty="0">
                <a:solidFill>
                  <a:srgbClr val="000000"/>
                </a:solidFill>
                <a:latin typeface="Calibri" panose="020F0502020204030204" pitchFamily="34" charset="0"/>
              </a:rPr>
              <a:t>Martha Hughes, Warrington Borough Council </a:t>
            </a:r>
            <a:endParaRPr lang="en-GB" dirty="0"/>
          </a:p>
          <a:p>
            <a:pPr marL="285750" indent="-285750">
              <a:buFont typeface="Wingdings" panose="05000000000000000000" pitchFamily="2" charset="2"/>
              <a:buChar char="§"/>
            </a:pPr>
            <a:endParaRPr lang="en-GB" sz="1800" dirty="0"/>
          </a:p>
          <a:p>
            <a:pPr marL="285750" indent="-285750">
              <a:buFont typeface="Wingdings" panose="05000000000000000000" pitchFamily="2" charset="2"/>
              <a:buChar char="§"/>
            </a:pPr>
            <a:endParaRPr lang="en-GB" dirty="0"/>
          </a:p>
          <a:p>
            <a:endParaRPr lang="en-GB" dirty="0"/>
          </a:p>
        </p:txBody>
      </p:sp>
    </p:spTree>
    <p:extLst>
      <p:ext uri="{BB962C8B-B14F-4D97-AF65-F5344CB8AC3E}">
        <p14:creationId xmlns:p14="http://schemas.microsoft.com/office/powerpoint/2010/main" val="3349146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7AB4D3-2013-5FE6-DC3B-B64F8A3ADB9D}"/>
              </a:ext>
            </a:extLst>
          </p:cNvPr>
          <p:cNvSpPr/>
          <p:nvPr/>
        </p:nvSpPr>
        <p:spPr>
          <a:xfrm>
            <a:off x="0" y="0"/>
            <a:ext cx="12192000" cy="1260000"/>
          </a:xfrm>
          <a:prstGeom prst="rect">
            <a:avLst/>
          </a:prstGeom>
          <a:solidFill>
            <a:srgbClr val="5757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oup of sheep grazing in a field with solar panels&#10;&#10;Description automatically generated">
            <a:extLst>
              <a:ext uri="{FF2B5EF4-FFF2-40B4-BE49-F238E27FC236}">
                <a16:creationId xmlns:a16="http://schemas.microsoft.com/office/drawing/2014/main" id="{605E9073-4502-3B06-67E1-C0DE8E0719FE}"/>
              </a:ext>
            </a:extLst>
          </p:cNvPr>
          <p:cNvPicPr>
            <a:picLocks noChangeAspect="1"/>
          </p:cNvPicPr>
          <p:nvPr/>
        </p:nvPicPr>
        <p:blipFill rotWithShape="1">
          <a:blip r:embed="rId3"/>
          <a:srcRect l="26813" r="26174"/>
          <a:stretch/>
        </p:blipFill>
        <p:spPr>
          <a:xfrm>
            <a:off x="0" y="-1"/>
            <a:ext cx="4831492" cy="6858001"/>
          </a:xfrm>
          <a:prstGeom prst="rect">
            <a:avLst/>
          </a:prstGeom>
        </p:spPr>
      </p:pic>
      <p:pic>
        <p:nvPicPr>
          <p:cNvPr id="4" name="Picture 3">
            <a:extLst>
              <a:ext uri="{FF2B5EF4-FFF2-40B4-BE49-F238E27FC236}">
                <a16:creationId xmlns:a16="http://schemas.microsoft.com/office/drawing/2014/main" id="{F378B3AD-4B67-088A-64BE-F967D8070458}"/>
              </a:ext>
            </a:extLst>
          </p:cNvPr>
          <p:cNvPicPr>
            <a:picLocks noChangeAspect="1"/>
          </p:cNvPicPr>
          <p:nvPr/>
        </p:nvPicPr>
        <p:blipFill>
          <a:blip r:embed="rId4"/>
          <a:stretch>
            <a:fillRect/>
          </a:stretch>
        </p:blipFill>
        <p:spPr>
          <a:xfrm>
            <a:off x="0" y="1260000"/>
            <a:ext cx="12192000" cy="63500"/>
          </a:xfrm>
          <a:prstGeom prst="rect">
            <a:avLst/>
          </a:prstGeom>
        </p:spPr>
      </p:pic>
      <p:sp>
        <p:nvSpPr>
          <p:cNvPr id="8" name="TextBox 7">
            <a:extLst>
              <a:ext uri="{FF2B5EF4-FFF2-40B4-BE49-F238E27FC236}">
                <a16:creationId xmlns:a16="http://schemas.microsoft.com/office/drawing/2014/main" id="{4DA3DA20-B132-C47E-7CDC-8E820BD5BBA4}"/>
              </a:ext>
            </a:extLst>
          </p:cNvPr>
          <p:cNvSpPr txBox="1"/>
          <p:nvPr/>
        </p:nvSpPr>
        <p:spPr>
          <a:xfrm>
            <a:off x="4831492" y="1323500"/>
            <a:ext cx="7360508" cy="5520816"/>
          </a:xfrm>
          <a:prstGeom prst="rect">
            <a:avLst/>
          </a:prstGeom>
          <a:noFill/>
        </p:spPr>
        <p:txBody>
          <a:bodyPr wrap="square" lIns="432000" tIns="432000" rIns="432000" bIns="432000" rtlCol="0">
            <a:noAutofit/>
          </a:bodyPr>
          <a:lstStyle/>
          <a:p>
            <a:pPr marL="171450" indent="-171450" fontAlgn="t">
              <a:spcAft>
                <a:spcPts val="600"/>
              </a:spcAft>
              <a:buFont typeface="Arial" panose="020B0604020202020204" pitchFamily="34" charset="0"/>
              <a:buChar char="•"/>
            </a:pPr>
            <a:r>
              <a:rPr lang="en-US"/>
              <a:t>Renewable Connections was established by sustainable energy investment specialist, Armstrong Capital Management and is one of the UK’s leading solar and battery developers. </a:t>
            </a:r>
          </a:p>
          <a:p>
            <a:pPr fontAlgn="t">
              <a:spcAft>
                <a:spcPts val="600"/>
              </a:spcAft>
            </a:pPr>
            <a:endParaRPr lang="en-US"/>
          </a:p>
          <a:p>
            <a:pPr marL="171450" indent="-171450" fontAlgn="t">
              <a:spcAft>
                <a:spcPts val="600"/>
              </a:spcAft>
              <a:buFont typeface="Arial" panose="020B0604020202020204" pitchFamily="34" charset="0"/>
              <a:buChar char="•"/>
            </a:pPr>
            <a:r>
              <a:rPr lang="en-US"/>
              <a:t>We deliver highly innovative renewable energy developments across the UK and take a responsible, community-led approach to the planning and design of our projects.</a:t>
            </a:r>
          </a:p>
          <a:p>
            <a:pPr marL="171450" indent="-171450" fontAlgn="t">
              <a:spcAft>
                <a:spcPts val="600"/>
              </a:spcAft>
              <a:buFont typeface="Arial" panose="020B0604020202020204" pitchFamily="34" charset="0"/>
              <a:buChar char="•"/>
            </a:pPr>
            <a:endParaRPr lang="en-US"/>
          </a:p>
          <a:p>
            <a:pPr marL="171450" indent="-171450" fontAlgn="t">
              <a:spcAft>
                <a:spcPts val="600"/>
              </a:spcAft>
              <a:buFont typeface="Arial" panose="020B0604020202020204" pitchFamily="34" charset="0"/>
              <a:buChar char="•"/>
            </a:pPr>
            <a:r>
              <a:rPr lang="en-US"/>
              <a:t>With an outstanding success record of achieving 23 project consents as of Nov 2024, the Renewable Connections team are unlocking hundreds of megawatts of solar and storage, increasing energy independence in the UK, and supporting the Government to reach its net zero targets. </a:t>
            </a:r>
          </a:p>
          <a:p>
            <a:pPr fontAlgn="t">
              <a:spcAft>
                <a:spcPts val="600"/>
              </a:spcAft>
            </a:pPr>
            <a:endParaRPr lang="en-US"/>
          </a:p>
        </p:txBody>
      </p:sp>
      <p:sp>
        <p:nvSpPr>
          <p:cNvPr id="9" name="TextBox 8">
            <a:extLst>
              <a:ext uri="{FF2B5EF4-FFF2-40B4-BE49-F238E27FC236}">
                <a16:creationId xmlns:a16="http://schemas.microsoft.com/office/drawing/2014/main" id="{82847F1B-2453-A190-DDEA-8DC8B24AE4C4}"/>
              </a:ext>
            </a:extLst>
          </p:cNvPr>
          <p:cNvSpPr txBox="1"/>
          <p:nvPr/>
        </p:nvSpPr>
        <p:spPr>
          <a:xfrm>
            <a:off x="4831492" y="13684"/>
            <a:ext cx="7360508" cy="1246315"/>
          </a:xfrm>
          <a:prstGeom prst="rect">
            <a:avLst/>
          </a:prstGeom>
          <a:noFill/>
        </p:spPr>
        <p:txBody>
          <a:bodyPr wrap="square" lIns="432000" tIns="432000" rIns="432000" bIns="432000" rtlCol="0" anchor="t" anchorCtr="0">
            <a:noAutofit/>
          </a:bodyPr>
          <a:lstStyle/>
          <a:p>
            <a:r>
              <a:rPr lang="en-US" sz="2300">
                <a:solidFill>
                  <a:schemeClr val="bg1"/>
                </a:solidFill>
                <a:latin typeface="Quebec Serial Heavy" panose="02000000000000000000" pitchFamily="2" charset="77"/>
              </a:rPr>
              <a:t>Background</a:t>
            </a:r>
          </a:p>
        </p:txBody>
      </p:sp>
      <p:pic>
        <p:nvPicPr>
          <p:cNvPr id="3" name="Picture 2" descr="A green leaf in a circle&#10;&#10;Description automatically generated">
            <a:extLst>
              <a:ext uri="{FF2B5EF4-FFF2-40B4-BE49-F238E27FC236}">
                <a16:creationId xmlns:a16="http://schemas.microsoft.com/office/drawing/2014/main" id="{74FFD363-811F-1248-CD86-C220355C4E25}"/>
              </a:ext>
            </a:extLst>
          </p:cNvPr>
          <p:cNvPicPr>
            <a:picLocks noChangeAspect="1"/>
          </p:cNvPicPr>
          <p:nvPr/>
        </p:nvPicPr>
        <p:blipFill>
          <a:blip r:embed="rId5"/>
          <a:stretch>
            <a:fillRect/>
          </a:stretch>
        </p:blipFill>
        <p:spPr>
          <a:xfrm>
            <a:off x="10939494" y="151986"/>
            <a:ext cx="990729" cy="990729"/>
          </a:xfrm>
          <a:prstGeom prst="rect">
            <a:avLst/>
          </a:prstGeom>
        </p:spPr>
      </p:pic>
      <p:pic>
        <p:nvPicPr>
          <p:cNvPr id="5" name="Picture 4" descr="A logo on a black background">
            <a:extLst>
              <a:ext uri="{FF2B5EF4-FFF2-40B4-BE49-F238E27FC236}">
                <a16:creationId xmlns:a16="http://schemas.microsoft.com/office/drawing/2014/main" id="{DE46FA72-8480-B613-804A-403E99633BA0}"/>
              </a:ext>
            </a:extLst>
          </p:cNvPr>
          <p:cNvPicPr>
            <a:picLocks noChangeAspect="1"/>
          </p:cNvPicPr>
          <p:nvPr/>
        </p:nvPicPr>
        <p:blipFill>
          <a:blip r:embed="rId6"/>
          <a:srcRect r="53666"/>
          <a:stretch/>
        </p:blipFill>
        <p:spPr>
          <a:xfrm>
            <a:off x="-165372" y="-196293"/>
            <a:ext cx="3285113" cy="1687286"/>
          </a:xfrm>
          <a:prstGeom prst="rect">
            <a:avLst/>
          </a:prstGeom>
        </p:spPr>
      </p:pic>
    </p:spTree>
    <p:extLst>
      <p:ext uri="{BB962C8B-B14F-4D97-AF65-F5344CB8AC3E}">
        <p14:creationId xmlns:p14="http://schemas.microsoft.com/office/powerpoint/2010/main" val="457086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0F9CF1-98C6-299A-41B6-6FD55607E5D4}"/>
              </a:ext>
            </a:extLst>
          </p:cNvPr>
          <p:cNvSpPr txBox="1"/>
          <p:nvPr/>
        </p:nvSpPr>
        <p:spPr>
          <a:xfrm>
            <a:off x="569214" y="321007"/>
            <a:ext cx="6094476" cy="400110"/>
          </a:xfrm>
          <a:prstGeom prst="rect">
            <a:avLst/>
          </a:prstGeom>
          <a:noFill/>
        </p:spPr>
        <p:txBody>
          <a:bodyPr wrap="square">
            <a:spAutoFit/>
          </a:bodyPr>
          <a:lstStyle/>
          <a:p>
            <a:r>
              <a:rPr lang="en-GB" sz="2000" dirty="0">
                <a:solidFill>
                  <a:schemeClr val="accent1">
                    <a:lumMod val="50000"/>
                  </a:schemeClr>
                </a:solidFill>
              </a:rPr>
              <a:t>Introduction </a:t>
            </a:r>
            <a:endParaRPr lang="en-GB" sz="2000" dirty="0"/>
          </a:p>
        </p:txBody>
      </p:sp>
      <p:sp>
        <p:nvSpPr>
          <p:cNvPr id="4" name="TextBox 3">
            <a:extLst>
              <a:ext uri="{FF2B5EF4-FFF2-40B4-BE49-F238E27FC236}">
                <a16:creationId xmlns:a16="http://schemas.microsoft.com/office/drawing/2014/main" id="{3E039747-620D-0E38-0ABF-186D18437544}"/>
              </a:ext>
            </a:extLst>
          </p:cNvPr>
          <p:cNvSpPr txBox="1"/>
          <p:nvPr/>
        </p:nvSpPr>
        <p:spPr>
          <a:xfrm>
            <a:off x="691896" y="1088136"/>
            <a:ext cx="9211056" cy="2236510"/>
          </a:xfrm>
          <a:prstGeom prst="rect">
            <a:avLst/>
          </a:prstGeom>
          <a:noFill/>
        </p:spPr>
        <p:txBody>
          <a:bodyPr wrap="square" rtlCol="0">
            <a:spAutoFit/>
          </a:bodyPr>
          <a:lstStyle/>
          <a:p>
            <a:pPr marL="285750" indent="-285750">
              <a:buFont typeface="Wingdings" panose="05000000000000000000" pitchFamily="2" charset="2"/>
              <a:buChar char="§"/>
            </a:pPr>
            <a:r>
              <a:rPr lang="en-GB" dirty="0"/>
              <a:t>The proposed description of development is: “Proposed solar photovoltaic farm and associated infrastructure”</a:t>
            </a:r>
          </a:p>
          <a:p>
            <a:endParaRPr lang="en-GB" sz="1800" dirty="0"/>
          </a:p>
          <a:p>
            <a:pPr marL="285750" indent="-285750">
              <a:spcAft>
                <a:spcPts val="800"/>
              </a:spcAft>
              <a:buFont typeface="Wingdings" panose="05000000000000000000" pitchFamily="2" charset="2"/>
              <a:buChar char="§"/>
            </a:pPr>
            <a:r>
              <a:rPr lang="en-GB" sz="1800"/>
              <a:t>The purpose of the pre-application request is to explore all key planning matters relating to the proposed development prior to the submission of a formal planning application</a:t>
            </a:r>
            <a:r>
              <a:rPr lang="en-GB"/>
              <a:t>. </a:t>
            </a:r>
          </a:p>
          <a:p>
            <a:pPr>
              <a:spcAft>
                <a:spcPts val="800"/>
              </a:spcAft>
            </a:pPr>
            <a:endParaRPr lang="en-GB" sz="1800" dirty="0"/>
          </a:p>
          <a:p>
            <a:endParaRPr lang="en-GB" i="1" dirty="0"/>
          </a:p>
        </p:txBody>
      </p:sp>
      <p:pic>
        <p:nvPicPr>
          <p:cNvPr id="5" name="Picture 4" descr="A logo with blue and green colors&#10;&#10;Description automatically generated">
            <a:extLst>
              <a:ext uri="{FF2B5EF4-FFF2-40B4-BE49-F238E27FC236}">
                <a16:creationId xmlns:a16="http://schemas.microsoft.com/office/drawing/2014/main" id="{21183999-B0F1-B1E7-ABC5-D54CAE699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2721" y="292542"/>
            <a:ext cx="2050471" cy="991256"/>
          </a:xfrm>
          <a:prstGeom prst="rect">
            <a:avLst/>
          </a:prstGeom>
        </p:spPr>
      </p:pic>
      <p:sp>
        <p:nvSpPr>
          <p:cNvPr id="8" name="TextBox 7">
            <a:extLst>
              <a:ext uri="{FF2B5EF4-FFF2-40B4-BE49-F238E27FC236}">
                <a16:creationId xmlns:a16="http://schemas.microsoft.com/office/drawing/2014/main" id="{DE6CC36E-1148-1C39-4792-2690406AA763}"/>
              </a:ext>
            </a:extLst>
          </p:cNvPr>
          <p:cNvSpPr txBox="1"/>
          <p:nvPr/>
        </p:nvSpPr>
        <p:spPr>
          <a:xfrm>
            <a:off x="7354111" y="214009"/>
            <a:ext cx="184731" cy="369332"/>
          </a:xfrm>
          <a:prstGeom prst="rect">
            <a:avLst/>
          </a:prstGeom>
          <a:noFill/>
        </p:spPr>
        <p:txBody>
          <a:bodyPr wrap="none" rtlCol="0">
            <a:spAutoFit/>
          </a:bodyPr>
          <a:lstStyle/>
          <a:p>
            <a:endParaRPr lang="en-GB" dirty="0"/>
          </a:p>
        </p:txBody>
      </p:sp>
    </p:spTree>
    <p:extLst>
      <p:ext uri="{BB962C8B-B14F-4D97-AF65-F5344CB8AC3E}">
        <p14:creationId xmlns:p14="http://schemas.microsoft.com/office/powerpoint/2010/main" val="3774216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48F7A1E-A3D9-9961-AAF2-07326B99BB80}"/>
              </a:ext>
            </a:extLst>
          </p:cNvPr>
          <p:cNvSpPr txBox="1">
            <a:spLocks/>
          </p:cNvSpPr>
          <p:nvPr/>
        </p:nvSpPr>
        <p:spPr>
          <a:xfrm>
            <a:off x="474534" y="414828"/>
            <a:ext cx="11348658" cy="7007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000">
                <a:solidFill>
                  <a:schemeClr val="accent1">
                    <a:lumMod val="50000"/>
                  </a:schemeClr>
                </a:solidFill>
              </a:rPr>
              <a:t>Site Context  </a:t>
            </a:r>
          </a:p>
        </p:txBody>
      </p:sp>
      <p:pic>
        <p:nvPicPr>
          <p:cNvPr id="4" name="Picture 3">
            <a:extLst>
              <a:ext uri="{FF2B5EF4-FFF2-40B4-BE49-F238E27FC236}">
                <a16:creationId xmlns:a16="http://schemas.microsoft.com/office/drawing/2014/main" id="{3E4919E8-3A06-DA34-513D-00FC5A865E30}"/>
              </a:ext>
            </a:extLst>
          </p:cNvPr>
          <p:cNvPicPr>
            <a:picLocks noChangeAspect="1"/>
          </p:cNvPicPr>
          <p:nvPr/>
        </p:nvPicPr>
        <p:blipFill>
          <a:blip r:embed="rId2">
            <a:extLst>
              <a:ext uri="{28A0092B-C50C-407E-A947-70E740481C1C}">
                <a14:useLocalDpi xmlns:a14="http://schemas.microsoft.com/office/drawing/2010/main" val="0"/>
              </a:ext>
            </a:extLst>
          </a:blip>
          <a:srcRect l="4251" r="4251"/>
          <a:stretch/>
        </p:blipFill>
        <p:spPr>
          <a:xfrm>
            <a:off x="1037134" y="1037122"/>
            <a:ext cx="6455854" cy="5504688"/>
          </a:xfrm>
          <a:prstGeom prst="rect">
            <a:avLst/>
          </a:prstGeom>
          <a:ln>
            <a:solidFill>
              <a:schemeClr val="tx1"/>
            </a:solidFill>
          </a:ln>
        </p:spPr>
      </p:pic>
      <p:pic>
        <p:nvPicPr>
          <p:cNvPr id="7" name="Picture 6" descr="A logo with blue and green colors&#10;&#10;Description automatically generated">
            <a:extLst>
              <a:ext uri="{FF2B5EF4-FFF2-40B4-BE49-F238E27FC236}">
                <a16:creationId xmlns:a16="http://schemas.microsoft.com/office/drawing/2014/main" id="{CF908F8A-FF94-9904-8009-8DF78C842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2721" y="292542"/>
            <a:ext cx="2050471" cy="991256"/>
          </a:xfrm>
          <a:prstGeom prst="rect">
            <a:avLst/>
          </a:prstGeom>
        </p:spPr>
      </p:pic>
      <p:grpSp>
        <p:nvGrpSpPr>
          <p:cNvPr id="5" name="Group 4">
            <a:extLst>
              <a:ext uri="{FF2B5EF4-FFF2-40B4-BE49-F238E27FC236}">
                <a16:creationId xmlns:a16="http://schemas.microsoft.com/office/drawing/2014/main" id="{9ABB7804-B284-119E-185C-8FCB53F2FEFE}"/>
              </a:ext>
            </a:extLst>
          </p:cNvPr>
          <p:cNvGrpSpPr/>
          <p:nvPr/>
        </p:nvGrpSpPr>
        <p:grpSpPr>
          <a:xfrm>
            <a:off x="8151919" y="2254314"/>
            <a:ext cx="3671273" cy="2807728"/>
            <a:chOff x="8197846" y="2646653"/>
            <a:chExt cx="2957020" cy="2261479"/>
          </a:xfrm>
        </p:grpSpPr>
        <p:pic>
          <p:nvPicPr>
            <p:cNvPr id="6" name="Picture 5">
              <a:extLst>
                <a:ext uri="{FF2B5EF4-FFF2-40B4-BE49-F238E27FC236}">
                  <a16:creationId xmlns:a16="http://schemas.microsoft.com/office/drawing/2014/main" id="{6F4F43C4-E8D4-7958-9924-A62906FF1E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197846" y="2646653"/>
              <a:ext cx="2957020" cy="2261479"/>
            </a:xfrm>
            <a:prstGeom prst="rect">
              <a:avLst/>
            </a:prstGeom>
            <a:ln>
              <a:solidFill>
                <a:schemeClr val="tx1"/>
              </a:solidFill>
            </a:ln>
          </p:spPr>
        </p:pic>
        <p:sp>
          <p:nvSpPr>
            <p:cNvPr id="3" name="Rectangle 2">
              <a:extLst>
                <a:ext uri="{FF2B5EF4-FFF2-40B4-BE49-F238E27FC236}">
                  <a16:creationId xmlns:a16="http://schemas.microsoft.com/office/drawing/2014/main" id="{C0F12EA9-1786-C170-806C-9258D9CB1059}"/>
                </a:ext>
              </a:extLst>
            </p:cNvPr>
            <p:cNvSpPr/>
            <p:nvPr/>
          </p:nvSpPr>
          <p:spPr>
            <a:xfrm>
              <a:off x="9113738" y="3375198"/>
              <a:ext cx="389580" cy="43520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0193B4DF-3C6D-3F4A-8F13-A43C37142DA2}"/>
              </a:ext>
            </a:extLst>
          </p:cNvPr>
          <p:cNvSpPr txBox="1"/>
          <p:nvPr/>
        </p:nvSpPr>
        <p:spPr>
          <a:xfrm>
            <a:off x="8055588" y="5341481"/>
            <a:ext cx="4144671" cy="1200329"/>
          </a:xfrm>
          <a:prstGeom prst="rect">
            <a:avLst/>
          </a:prstGeom>
          <a:noFill/>
        </p:spPr>
        <p:txBody>
          <a:bodyPr wrap="square">
            <a:spAutoFit/>
          </a:bodyPr>
          <a:lstStyle/>
          <a:p>
            <a:r>
              <a:rPr lang="en-US"/>
              <a:t>The Proposed Site comprises approximately 32 hectares of land located at Fowl Farm, </a:t>
            </a:r>
            <a:r>
              <a:rPr lang="en-US" err="1"/>
              <a:t>Cuerdley</a:t>
            </a:r>
            <a:r>
              <a:rPr lang="en-US"/>
              <a:t>, Warrington WA5 2XQ</a:t>
            </a:r>
          </a:p>
        </p:txBody>
      </p:sp>
    </p:spTree>
    <p:extLst>
      <p:ext uri="{BB962C8B-B14F-4D97-AF65-F5344CB8AC3E}">
        <p14:creationId xmlns:p14="http://schemas.microsoft.com/office/powerpoint/2010/main" val="2248946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91DA150-7E4D-3884-4A63-1D81536A91A8}"/>
              </a:ext>
            </a:extLst>
          </p:cNvPr>
          <p:cNvSpPr txBox="1">
            <a:spLocks/>
          </p:cNvSpPr>
          <p:nvPr/>
        </p:nvSpPr>
        <p:spPr>
          <a:xfrm>
            <a:off x="426346" y="365126"/>
            <a:ext cx="11348658" cy="7007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000">
                <a:solidFill>
                  <a:schemeClr val="accent1">
                    <a:lumMod val="50000"/>
                  </a:schemeClr>
                </a:solidFill>
              </a:rPr>
              <a:t>Proposed Development  </a:t>
            </a:r>
          </a:p>
        </p:txBody>
      </p:sp>
      <p:pic>
        <p:nvPicPr>
          <p:cNvPr id="11" name="Picture 10" descr="A logo with blue and green colors&#10;&#10;Description automatically generated">
            <a:extLst>
              <a:ext uri="{FF2B5EF4-FFF2-40B4-BE49-F238E27FC236}">
                <a16:creationId xmlns:a16="http://schemas.microsoft.com/office/drawing/2014/main" id="{308E0927-804B-5F7D-4796-10E73F230E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2721" y="292542"/>
            <a:ext cx="2050471" cy="991256"/>
          </a:xfrm>
          <a:prstGeom prst="rect">
            <a:avLst/>
          </a:prstGeom>
        </p:spPr>
      </p:pic>
      <p:sp>
        <p:nvSpPr>
          <p:cNvPr id="13" name="TextBox 12">
            <a:extLst>
              <a:ext uri="{FF2B5EF4-FFF2-40B4-BE49-F238E27FC236}">
                <a16:creationId xmlns:a16="http://schemas.microsoft.com/office/drawing/2014/main" id="{AEF6BAF9-4FDD-A2AD-4611-230AAF570E7A}"/>
              </a:ext>
            </a:extLst>
          </p:cNvPr>
          <p:cNvSpPr txBox="1"/>
          <p:nvPr/>
        </p:nvSpPr>
        <p:spPr>
          <a:xfrm>
            <a:off x="5880706" y="1141520"/>
            <a:ext cx="5819079" cy="3873304"/>
          </a:xfrm>
          <a:prstGeom prst="rect">
            <a:avLst/>
          </a:prstGeom>
          <a:noFill/>
        </p:spPr>
        <p:txBody>
          <a:bodyPr wrap="square">
            <a:spAutoFit/>
          </a:bodyPr>
          <a:lstStyle/>
          <a:p>
            <a:r>
              <a:rPr lang="en-GB" sz="1600" u="sng"/>
              <a:t>Proposed Development</a:t>
            </a:r>
            <a:r>
              <a:rPr lang="en-GB" sz="1600"/>
              <a:t>:</a:t>
            </a:r>
          </a:p>
          <a:p>
            <a:endParaRPr lang="en-GB" sz="1600"/>
          </a:p>
          <a:p>
            <a:pPr marL="285750" indent="-285750">
              <a:lnSpc>
                <a:spcPct val="150000"/>
              </a:lnSpc>
              <a:buFont typeface="Wingdings" panose="05000000000000000000" pitchFamily="2" charset="2"/>
              <a:buChar char="§"/>
            </a:pPr>
            <a:r>
              <a:rPr lang="en-GB" sz="1600"/>
              <a:t>Solar Panels no more than 3m above the ground </a:t>
            </a:r>
          </a:p>
          <a:p>
            <a:pPr marL="285750" indent="-285750">
              <a:lnSpc>
                <a:spcPct val="150000"/>
              </a:lnSpc>
              <a:buFont typeface="Wingdings" panose="05000000000000000000" pitchFamily="2" charset="2"/>
              <a:buChar char="§"/>
            </a:pPr>
            <a:r>
              <a:rPr lang="en-GB" sz="1600">
                <a:solidFill>
                  <a:srgbClr val="000000"/>
                </a:solidFill>
              </a:rPr>
              <a:t>DNO Substation within the eastern parcel</a:t>
            </a:r>
          </a:p>
          <a:p>
            <a:pPr marL="285750" indent="-285750">
              <a:lnSpc>
                <a:spcPct val="150000"/>
              </a:lnSpc>
              <a:buFont typeface="Wingdings" panose="05000000000000000000" pitchFamily="2" charset="2"/>
              <a:buChar char="§"/>
            </a:pPr>
            <a:r>
              <a:rPr lang="en-GB" sz="1600">
                <a:solidFill>
                  <a:srgbClr val="000000"/>
                </a:solidFill>
              </a:rPr>
              <a:t>Likely to include post and wire deer fence approximately 2m high</a:t>
            </a:r>
          </a:p>
          <a:p>
            <a:pPr marL="285750" indent="-285750">
              <a:lnSpc>
                <a:spcPct val="150000"/>
              </a:lnSpc>
              <a:buFont typeface="Wingdings" panose="05000000000000000000" pitchFamily="2" charset="2"/>
              <a:buChar char="§"/>
            </a:pPr>
            <a:r>
              <a:rPr lang="en-GB" sz="1600">
                <a:solidFill>
                  <a:srgbClr val="000000"/>
                </a:solidFill>
              </a:rPr>
              <a:t>CCTV cameras mounted on posts</a:t>
            </a:r>
          </a:p>
          <a:p>
            <a:pPr marL="285750" indent="-285750">
              <a:lnSpc>
                <a:spcPct val="150000"/>
              </a:lnSpc>
              <a:buFont typeface="Wingdings" panose="05000000000000000000" pitchFamily="2" charset="2"/>
              <a:buChar char="§"/>
            </a:pPr>
            <a:r>
              <a:rPr lang="en-GB" sz="1600">
                <a:solidFill>
                  <a:srgbClr val="000000"/>
                </a:solidFill>
              </a:rPr>
              <a:t>Associated transformers and maintenance tracks</a:t>
            </a:r>
          </a:p>
          <a:p>
            <a:pPr marL="285750" indent="-285750">
              <a:lnSpc>
                <a:spcPct val="150000"/>
              </a:lnSpc>
              <a:buFont typeface="Wingdings" panose="05000000000000000000" pitchFamily="2" charset="2"/>
              <a:buChar char="§"/>
            </a:pPr>
            <a:r>
              <a:rPr lang="en-GB" sz="1600" b="0" i="0" u="none" strike="noStrike" baseline="0">
                <a:solidFill>
                  <a:srgbClr val="000000"/>
                </a:solidFill>
              </a:rPr>
              <a:t>Existing veget</a:t>
            </a:r>
            <a:r>
              <a:rPr lang="en-GB" sz="1600">
                <a:solidFill>
                  <a:srgbClr val="000000"/>
                </a:solidFill>
              </a:rPr>
              <a:t>ation retained across the site</a:t>
            </a:r>
          </a:p>
          <a:p>
            <a:pPr marL="285750" indent="-285750">
              <a:lnSpc>
                <a:spcPct val="150000"/>
              </a:lnSpc>
              <a:buFont typeface="Wingdings" panose="05000000000000000000" pitchFamily="2" charset="2"/>
              <a:buChar char="§"/>
            </a:pPr>
            <a:r>
              <a:rPr lang="en-GB" sz="1600" b="0" i="0" u="none" strike="noStrike" baseline="0">
                <a:solidFill>
                  <a:srgbClr val="000000"/>
                </a:solidFill>
              </a:rPr>
              <a:t>New veg</a:t>
            </a:r>
            <a:r>
              <a:rPr lang="en-GB" sz="1600">
                <a:solidFill>
                  <a:srgbClr val="000000"/>
                </a:solidFill>
              </a:rPr>
              <a:t>etation screening as necessary to reduce any perceived visual impact</a:t>
            </a:r>
            <a:endParaRPr lang="en-GB" sz="1600" b="0" i="0" u="none" strike="noStrike" baseline="0">
              <a:solidFill>
                <a:srgbClr val="000000"/>
              </a:solidFill>
            </a:endParaRPr>
          </a:p>
        </p:txBody>
      </p:sp>
      <p:pic>
        <p:nvPicPr>
          <p:cNvPr id="4" name="Picture 3">
            <a:extLst>
              <a:ext uri="{FF2B5EF4-FFF2-40B4-BE49-F238E27FC236}">
                <a16:creationId xmlns:a16="http://schemas.microsoft.com/office/drawing/2014/main" id="{38CE30C4-74C7-91FD-5380-88EEB5033E9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5608" y="1071869"/>
            <a:ext cx="5391691" cy="3875277"/>
          </a:xfrm>
          <a:prstGeom prst="rect">
            <a:avLst/>
          </a:prstGeom>
          <a:ln>
            <a:solidFill>
              <a:schemeClr val="tx1"/>
            </a:solidFill>
          </a:ln>
        </p:spPr>
      </p:pic>
    </p:spTree>
    <p:extLst>
      <p:ext uri="{BB962C8B-B14F-4D97-AF65-F5344CB8AC3E}">
        <p14:creationId xmlns:p14="http://schemas.microsoft.com/office/powerpoint/2010/main" val="1584602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0E485CA-27E3-8507-2592-87CA3F3DAF38}"/>
              </a:ext>
            </a:extLst>
          </p:cNvPr>
          <p:cNvSpPr txBox="1"/>
          <p:nvPr/>
        </p:nvSpPr>
        <p:spPr>
          <a:xfrm>
            <a:off x="998290" y="205798"/>
            <a:ext cx="5402510" cy="571066"/>
          </a:xfrm>
          <a:prstGeom prst="rect">
            <a:avLst/>
          </a:prstGeom>
          <a:noFill/>
        </p:spPr>
        <p:txBody>
          <a:bodyPr wrap="square" lIns="432000" tIns="432000" rIns="432000" bIns="432000" rtlCol="0" anchor="ctr" anchorCtr="0">
            <a:noAutofit/>
          </a:bodyPr>
          <a:lstStyle/>
          <a:p>
            <a:pPr>
              <a:lnSpc>
                <a:spcPct val="90000"/>
              </a:lnSpc>
              <a:spcBef>
                <a:spcPct val="0"/>
              </a:spcBef>
            </a:pPr>
            <a:r>
              <a:rPr lang="en-US" sz="2000">
                <a:solidFill>
                  <a:schemeClr val="accent1">
                    <a:lumMod val="50000"/>
                  </a:schemeClr>
                </a:solidFill>
                <a:latin typeface="+mj-lt"/>
                <a:ea typeface="+mj-ea"/>
                <a:cs typeface="+mj-cs"/>
              </a:rPr>
              <a:t>Highways, Access and Construction</a:t>
            </a:r>
          </a:p>
        </p:txBody>
      </p:sp>
      <p:pic>
        <p:nvPicPr>
          <p:cNvPr id="2" name="Picture 1">
            <a:extLst>
              <a:ext uri="{FF2B5EF4-FFF2-40B4-BE49-F238E27FC236}">
                <a16:creationId xmlns:a16="http://schemas.microsoft.com/office/drawing/2014/main" id="{6C4A7BCD-A611-38F8-B2F4-0BFB804D1C4E}"/>
              </a:ext>
            </a:extLst>
          </p:cNvPr>
          <p:cNvPicPr>
            <a:picLocks noChangeAspect="1"/>
          </p:cNvPicPr>
          <p:nvPr/>
        </p:nvPicPr>
        <p:blipFill>
          <a:blip r:embed="rId3"/>
          <a:stretch>
            <a:fillRect/>
          </a:stretch>
        </p:blipFill>
        <p:spPr>
          <a:xfrm>
            <a:off x="0" y="6698924"/>
            <a:ext cx="12192000" cy="63500"/>
          </a:xfrm>
          <a:prstGeom prst="rect">
            <a:avLst/>
          </a:prstGeom>
        </p:spPr>
      </p:pic>
      <p:pic>
        <p:nvPicPr>
          <p:cNvPr id="11" name="Picture 10" descr="A solar panel with sun behind it&#10;&#10;Description automatically generated">
            <a:extLst>
              <a:ext uri="{FF2B5EF4-FFF2-40B4-BE49-F238E27FC236}">
                <a16:creationId xmlns:a16="http://schemas.microsoft.com/office/drawing/2014/main" id="{5D8B6389-465B-1B00-8945-6DA24C8A9487}"/>
              </a:ext>
            </a:extLst>
          </p:cNvPr>
          <p:cNvPicPr>
            <a:picLocks noChangeAspect="1"/>
          </p:cNvPicPr>
          <p:nvPr/>
        </p:nvPicPr>
        <p:blipFill>
          <a:blip r:embed="rId4"/>
          <a:stretch>
            <a:fillRect/>
          </a:stretch>
        </p:blipFill>
        <p:spPr>
          <a:xfrm>
            <a:off x="270324" y="159076"/>
            <a:ext cx="835148" cy="693173"/>
          </a:xfrm>
          <a:prstGeom prst="rect">
            <a:avLst/>
          </a:prstGeom>
        </p:spPr>
      </p:pic>
      <p:pic>
        <p:nvPicPr>
          <p:cNvPr id="4" name="Picture 3">
            <a:extLst>
              <a:ext uri="{FF2B5EF4-FFF2-40B4-BE49-F238E27FC236}">
                <a16:creationId xmlns:a16="http://schemas.microsoft.com/office/drawing/2014/main" id="{A68ADD9B-A8F7-D55B-21E1-604172C46D82}"/>
              </a:ext>
            </a:extLst>
          </p:cNvPr>
          <p:cNvPicPr>
            <a:picLocks noChangeAspect="1"/>
          </p:cNvPicPr>
          <p:nvPr/>
        </p:nvPicPr>
        <p:blipFill>
          <a:blip r:embed="rId5"/>
          <a:srcRect t="11512" b="17726"/>
          <a:stretch/>
        </p:blipFill>
        <p:spPr>
          <a:xfrm>
            <a:off x="362618" y="1131217"/>
            <a:ext cx="8770059" cy="4232312"/>
          </a:xfrm>
          <a:prstGeom prst="rect">
            <a:avLst/>
          </a:prstGeom>
        </p:spPr>
      </p:pic>
      <p:sp>
        <p:nvSpPr>
          <p:cNvPr id="5" name="Rectangle 4">
            <a:extLst>
              <a:ext uri="{FF2B5EF4-FFF2-40B4-BE49-F238E27FC236}">
                <a16:creationId xmlns:a16="http://schemas.microsoft.com/office/drawing/2014/main" id="{1F763E59-96AB-9206-6BAD-F70D6F550CB1}"/>
              </a:ext>
            </a:extLst>
          </p:cNvPr>
          <p:cNvSpPr/>
          <p:nvPr/>
        </p:nvSpPr>
        <p:spPr>
          <a:xfrm rot="10800000" flipV="1">
            <a:off x="9045052" y="1602870"/>
            <a:ext cx="2970853" cy="584775"/>
          </a:xfrm>
          <a:prstGeom prst="rect">
            <a:avLst/>
          </a:prstGeom>
          <a:solidFill>
            <a:srgbClr val="FFFFFF"/>
          </a:solidFill>
          <a:ln>
            <a:solidFill>
              <a:schemeClr val="bg1"/>
            </a:solidFill>
          </a:ln>
        </p:spPr>
        <p:txBody>
          <a:bodyPr wrap="square">
            <a:spAutoFit/>
          </a:bodyPr>
          <a:lstStyle/>
          <a:p>
            <a:pPr>
              <a:buClr>
                <a:schemeClr val="accent4"/>
              </a:buClr>
              <a:buSzPct val="150000"/>
              <a:defRPr/>
            </a:pPr>
            <a:r>
              <a:rPr lang="en-GB" sz="1600"/>
              <a:t>Sites are accessed via A562, and on to Back Lane</a:t>
            </a:r>
          </a:p>
        </p:txBody>
      </p:sp>
    </p:spTree>
    <p:extLst>
      <p:ext uri="{BB962C8B-B14F-4D97-AF65-F5344CB8AC3E}">
        <p14:creationId xmlns:p14="http://schemas.microsoft.com/office/powerpoint/2010/main" val="3838315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olar panels on a roof&#10;&#10;Description automatically generated">
            <a:extLst>
              <a:ext uri="{FF2B5EF4-FFF2-40B4-BE49-F238E27FC236}">
                <a16:creationId xmlns:a16="http://schemas.microsoft.com/office/drawing/2014/main" id="{08B5D1E9-6697-7FEA-B6CD-733B34650443}"/>
              </a:ext>
            </a:extLst>
          </p:cNvPr>
          <p:cNvPicPr>
            <a:picLocks noChangeAspect="1"/>
          </p:cNvPicPr>
          <p:nvPr/>
        </p:nvPicPr>
        <p:blipFill>
          <a:blip r:embed="rId3">
            <a:extLst>
              <a:ext uri="{28A0092B-C50C-407E-A947-70E740481C1C}">
                <a14:useLocalDpi xmlns:a14="http://schemas.microsoft.com/office/drawing/2010/main" val="0"/>
              </a:ext>
            </a:extLst>
          </a:blip>
          <a:srcRect t="9091" r="13818"/>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descr="A logo with a black background&#10;&#10;Description automatically generated">
            <a:extLst>
              <a:ext uri="{FF2B5EF4-FFF2-40B4-BE49-F238E27FC236}">
                <a16:creationId xmlns:a16="http://schemas.microsoft.com/office/drawing/2014/main" id="{498BEC16-34D3-9EF4-D31E-0A0858D2B6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3686" y="387299"/>
            <a:ext cx="1591499" cy="769377"/>
          </a:xfrm>
          <a:prstGeom prst="rect">
            <a:avLst/>
          </a:prstGeom>
        </p:spPr>
      </p:pic>
      <p:sp>
        <p:nvSpPr>
          <p:cNvPr id="12" name="Rectangle 11">
            <a:extLst>
              <a:ext uri="{FF2B5EF4-FFF2-40B4-BE49-F238E27FC236}">
                <a16:creationId xmlns:a16="http://schemas.microsoft.com/office/drawing/2014/main" id="{E7B62EF2-E19F-36EE-C66F-3020529D46EA}"/>
              </a:ext>
            </a:extLst>
          </p:cNvPr>
          <p:cNvSpPr/>
          <p:nvPr/>
        </p:nvSpPr>
        <p:spPr>
          <a:xfrm>
            <a:off x="402336" y="548640"/>
            <a:ext cx="1075483" cy="3327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960C64B-6ED9-333D-C24B-BB4679EA4D71}"/>
              </a:ext>
            </a:extLst>
          </p:cNvPr>
          <p:cNvSpPr txBox="1"/>
          <p:nvPr/>
        </p:nvSpPr>
        <p:spPr>
          <a:xfrm>
            <a:off x="476250" y="329503"/>
            <a:ext cx="6094476" cy="400110"/>
          </a:xfrm>
          <a:prstGeom prst="rect">
            <a:avLst/>
          </a:prstGeom>
          <a:noFill/>
        </p:spPr>
        <p:txBody>
          <a:bodyPr wrap="square">
            <a:spAutoFit/>
          </a:bodyPr>
          <a:lstStyle/>
          <a:p>
            <a:r>
              <a:rPr lang="en-GB" sz="2000">
                <a:solidFill>
                  <a:schemeClr val="accent1">
                    <a:lumMod val="50000"/>
                  </a:schemeClr>
                </a:solidFill>
              </a:rPr>
              <a:t>Principle of Development</a:t>
            </a:r>
          </a:p>
        </p:txBody>
      </p:sp>
      <p:sp>
        <p:nvSpPr>
          <p:cNvPr id="22" name="TextBox 21">
            <a:extLst>
              <a:ext uri="{FF2B5EF4-FFF2-40B4-BE49-F238E27FC236}">
                <a16:creationId xmlns:a16="http://schemas.microsoft.com/office/drawing/2014/main" id="{44309F01-5B6F-5968-93DC-F4B657B33CCA}"/>
              </a:ext>
            </a:extLst>
          </p:cNvPr>
          <p:cNvSpPr txBox="1"/>
          <p:nvPr/>
        </p:nvSpPr>
        <p:spPr>
          <a:xfrm>
            <a:off x="476250" y="757592"/>
            <a:ext cx="4918710" cy="6001643"/>
          </a:xfrm>
          <a:prstGeom prst="rect">
            <a:avLst/>
          </a:prstGeom>
          <a:noFill/>
        </p:spPr>
        <p:txBody>
          <a:bodyPr wrap="square">
            <a:spAutoFit/>
          </a:bodyPr>
          <a:lstStyle/>
          <a:p>
            <a:pPr marL="285750" indent="-285750">
              <a:buFont typeface="Wingdings" panose="05000000000000000000" pitchFamily="2" charset="2"/>
              <a:buChar char="§"/>
            </a:pPr>
            <a:r>
              <a:rPr lang="en-GB" sz="1600" b="0" i="1" u="none" strike="noStrike" baseline="0">
                <a:solidFill>
                  <a:srgbClr val="000000"/>
                </a:solidFill>
                <a:latin typeface="Calibri" panose="020F0502020204030204" pitchFamily="34" charset="0"/>
              </a:rPr>
              <a:t>ENV7 (Renewable Energy and Low Carbon Energy Development) </a:t>
            </a:r>
            <a:r>
              <a:rPr lang="en-GB" sz="1600" b="0" i="0" u="none" strike="noStrike" baseline="0">
                <a:solidFill>
                  <a:srgbClr val="000000"/>
                </a:solidFill>
                <a:latin typeface="Calibri" panose="020F0502020204030204" pitchFamily="34" charset="0"/>
              </a:rPr>
              <a:t>states that renewables developments will be permitted provided they ‘satisfy the requirements of other relevant Plan policies and would not result in unacceptable harm to the local environment’.</a:t>
            </a:r>
          </a:p>
          <a:p>
            <a:endParaRPr lang="en-GB" sz="1600" b="0" i="0" u="none" strike="noStrike" baseline="0">
              <a:solidFill>
                <a:srgbClr val="000000"/>
              </a:solidFill>
              <a:latin typeface="Calibri" panose="020F0502020204030204" pitchFamily="34" charset="0"/>
            </a:endParaRPr>
          </a:p>
          <a:p>
            <a:pPr marL="285750" indent="-285750">
              <a:buFont typeface="Wingdings" panose="05000000000000000000" pitchFamily="2" charset="2"/>
              <a:buChar char="§"/>
            </a:pPr>
            <a:r>
              <a:rPr lang="en-GB" sz="1600" b="0" i="0" u="none" strike="noStrike" baseline="0">
                <a:solidFill>
                  <a:srgbClr val="000000"/>
                </a:solidFill>
                <a:latin typeface="Calibri" panose="020F0502020204030204" pitchFamily="34" charset="0"/>
              </a:rPr>
              <a:t>Part </a:t>
            </a:r>
            <a:r>
              <a:rPr lang="en-GB" sz="1600" b="0" i="1" u="none" strike="noStrike" baseline="0">
                <a:solidFill>
                  <a:srgbClr val="000000"/>
                </a:solidFill>
                <a:latin typeface="Calibri" panose="020F0502020204030204" pitchFamily="34" charset="0"/>
              </a:rPr>
              <a:t>14</a:t>
            </a:r>
            <a:r>
              <a:rPr lang="en-GB" sz="1600" b="0" i="0" u="none" strike="noStrike" baseline="0">
                <a:solidFill>
                  <a:srgbClr val="000000"/>
                </a:solidFill>
                <a:latin typeface="Calibri" panose="020F0502020204030204" pitchFamily="34" charset="0"/>
              </a:rPr>
              <a:t> of </a:t>
            </a:r>
            <a:r>
              <a:rPr lang="en-GB" sz="1600" b="0" i="1" u="none" strike="noStrike" baseline="0">
                <a:solidFill>
                  <a:srgbClr val="000000"/>
                </a:solidFill>
                <a:latin typeface="Calibri" panose="020F0502020204030204" pitchFamily="34" charset="0"/>
              </a:rPr>
              <a:t>NPPF</a:t>
            </a:r>
            <a:r>
              <a:rPr lang="en-GB" sz="1600" b="0" i="0" u="none" strike="noStrike" baseline="0">
                <a:solidFill>
                  <a:srgbClr val="000000"/>
                </a:solidFill>
                <a:latin typeface="Calibri" panose="020F0502020204030204" pitchFamily="34" charset="0"/>
              </a:rPr>
              <a:t>, </a:t>
            </a:r>
            <a:r>
              <a:rPr lang="en-GB" sz="1600" b="0" i="1" u="none" strike="noStrike" baseline="0">
                <a:solidFill>
                  <a:srgbClr val="000000"/>
                </a:solidFill>
                <a:latin typeface="Calibri" panose="020F0502020204030204" pitchFamily="34" charset="0"/>
              </a:rPr>
              <a:t>para. 157 </a:t>
            </a:r>
            <a:r>
              <a:rPr lang="en-GB" sz="1600" b="0" i="0" u="none" strike="noStrike" baseline="0">
                <a:solidFill>
                  <a:srgbClr val="000000"/>
                </a:solidFill>
                <a:latin typeface="Calibri" panose="020F0502020204030204" pitchFamily="34" charset="0"/>
              </a:rPr>
              <a:t>states that planning plays a key role in helping to shape places to secure radical reductions in greenhouse gas emissions and supporting the delivery of renewable energy infrastructure. </a:t>
            </a:r>
          </a:p>
          <a:p>
            <a:endParaRPr lang="en-GB" sz="1600" b="0" i="0" u="none" strike="noStrike" baseline="0">
              <a:solidFill>
                <a:srgbClr val="000000"/>
              </a:solidFill>
              <a:latin typeface="Calibri" panose="020F0502020204030204" pitchFamily="34" charset="0"/>
            </a:endParaRPr>
          </a:p>
          <a:p>
            <a:pPr marL="285750" indent="-285750">
              <a:buFont typeface="Wingdings" panose="05000000000000000000" pitchFamily="2" charset="2"/>
              <a:buChar char="§"/>
            </a:pPr>
            <a:r>
              <a:rPr lang="en-GB" sz="1600" b="0" i="1" u="none" strike="noStrike" baseline="0">
                <a:solidFill>
                  <a:srgbClr val="000000"/>
                </a:solidFill>
                <a:latin typeface="Calibri" panose="020F0502020204030204" pitchFamily="34" charset="0"/>
              </a:rPr>
              <a:t>Para. 163 </a:t>
            </a:r>
            <a:r>
              <a:rPr lang="en-GB" sz="1600" b="0" i="0" u="none" strike="noStrike" baseline="0">
                <a:solidFill>
                  <a:srgbClr val="000000"/>
                </a:solidFill>
                <a:latin typeface="Calibri" panose="020F0502020204030204" pitchFamily="34" charset="0"/>
              </a:rPr>
              <a:t>states that local planning authorities should not require applicants to demonstrate the need for renewable energy development and that applications should be approved if the impacts are (or can be made) acceptable. </a:t>
            </a:r>
          </a:p>
          <a:p>
            <a:endParaRPr lang="en-GB" sz="1600" b="0" i="0" u="none" strike="noStrike" baseline="0">
              <a:solidFill>
                <a:srgbClr val="000000"/>
              </a:solidFill>
              <a:latin typeface="Calibri" panose="020F0502020204030204" pitchFamily="34" charset="0"/>
            </a:endParaRPr>
          </a:p>
          <a:p>
            <a:pPr marL="285750" indent="-285750">
              <a:buFont typeface="Wingdings" panose="05000000000000000000" pitchFamily="2" charset="2"/>
              <a:buChar char="§"/>
            </a:pPr>
            <a:r>
              <a:rPr lang="en-GB" sz="1600">
                <a:solidFill>
                  <a:srgbClr val="000000"/>
                </a:solidFill>
                <a:latin typeface="Calibri" panose="020F0502020204030204" pitchFamily="34" charset="0"/>
              </a:rPr>
              <a:t>P</a:t>
            </a:r>
            <a:r>
              <a:rPr lang="en-GB" sz="1600" b="0" i="0" u="none" strike="noStrike" baseline="0">
                <a:solidFill>
                  <a:srgbClr val="000000"/>
                </a:solidFill>
                <a:latin typeface="Calibri" panose="020F0502020204030204" pitchFamily="34" charset="0"/>
              </a:rPr>
              <a:t>roject will directly address the climate emergency declared by the Government on 1</a:t>
            </a:r>
            <a:r>
              <a:rPr lang="en-GB" sz="1600" b="0" i="0" u="none" strike="noStrike" baseline="30000">
                <a:solidFill>
                  <a:srgbClr val="000000"/>
                </a:solidFill>
                <a:latin typeface="Calibri" panose="020F0502020204030204" pitchFamily="34" charset="0"/>
              </a:rPr>
              <a:t>st</a:t>
            </a:r>
            <a:r>
              <a:rPr lang="en-GB" sz="1600" b="0" i="0" u="none" strike="noStrike" baseline="0">
                <a:solidFill>
                  <a:srgbClr val="000000"/>
                </a:solidFill>
                <a:latin typeface="Calibri" panose="020F0502020204030204" pitchFamily="34" charset="0"/>
              </a:rPr>
              <a:t>  May 2019 and Warrington Borough Council in 2019, supporting the transition away from fossil fuels. </a:t>
            </a:r>
            <a:endParaRPr lang="en-GB" sz="1600"/>
          </a:p>
          <a:p>
            <a:endParaRPr lang="en-GB" sz="1600"/>
          </a:p>
        </p:txBody>
      </p:sp>
    </p:spTree>
    <p:extLst>
      <p:ext uri="{BB962C8B-B14F-4D97-AF65-F5344CB8AC3E}">
        <p14:creationId xmlns:p14="http://schemas.microsoft.com/office/powerpoint/2010/main" val="397411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trees in a grassy area&#10;&#10;Description automatically generated">
            <a:extLst>
              <a:ext uri="{FF2B5EF4-FFF2-40B4-BE49-F238E27FC236}">
                <a16:creationId xmlns:a16="http://schemas.microsoft.com/office/drawing/2014/main" id="{653F4D02-C60B-576D-23FD-76FB1C611608}"/>
              </a:ext>
            </a:extLst>
          </p:cNvPr>
          <p:cNvPicPr>
            <a:picLocks noChangeAspect="1"/>
          </p:cNvPicPr>
          <p:nvPr/>
        </p:nvPicPr>
        <p:blipFill>
          <a:blip r:embed="rId2">
            <a:extLst>
              <a:ext uri="{28A0092B-C50C-407E-A947-70E740481C1C}">
                <a14:useLocalDpi xmlns:a14="http://schemas.microsoft.com/office/drawing/2010/main" val="0"/>
              </a:ext>
            </a:extLst>
          </a:blip>
          <a:srcRect t="6851" r="-2" b="31763"/>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15" name="Picture 14" descr="A field with trees and a fence&#10;&#10;Description automatically generated">
            <a:extLst>
              <a:ext uri="{FF2B5EF4-FFF2-40B4-BE49-F238E27FC236}">
                <a16:creationId xmlns:a16="http://schemas.microsoft.com/office/drawing/2014/main" id="{A4AEF72D-0B04-D763-66A0-D3DC04CD4ED5}"/>
              </a:ext>
            </a:extLst>
          </p:cNvPr>
          <p:cNvPicPr>
            <a:picLocks noChangeAspect="1"/>
          </p:cNvPicPr>
          <p:nvPr/>
        </p:nvPicPr>
        <p:blipFill>
          <a:blip r:embed="rId3">
            <a:extLst>
              <a:ext uri="{28A0092B-C50C-407E-A947-70E740481C1C}">
                <a14:useLocalDpi xmlns:a14="http://schemas.microsoft.com/office/drawing/2010/main" val="0"/>
              </a:ext>
            </a:extLst>
          </a:blip>
          <a:srcRect t="29028" r="-2" b="9585"/>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22" name="Freeform: Shape 21">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8" name="Rectangle 27">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TextBox 10">
            <a:extLst>
              <a:ext uri="{FF2B5EF4-FFF2-40B4-BE49-F238E27FC236}">
                <a16:creationId xmlns:a16="http://schemas.microsoft.com/office/drawing/2014/main" id="{86C59079-4492-E4AF-7A52-05A21F747BA6}"/>
              </a:ext>
            </a:extLst>
          </p:cNvPr>
          <p:cNvSpPr txBox="1"/>
          <p:nvPr/>
        </p:nvSpPr>
        <p:spPr>
          <a:xfrm>
            <a:off x="448056" y="2512611"/>
            <a:ext cx="4832803" cy="3664351"/>
          </a:xfrm>
          <a:prstGeom prst="rect">
            <a:avLst/>
          </a:prstGeom>
        </p:spPr>
        <p:txBody>
          <a:bodyPr vert="horz" lIns="91440" tIns="45720" rIns="91440" bIns="45720" rtlCol="0">
            <a:normAutofit/>
          </a:bodyPr>
          <a:lstStyle/>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Landscape and Visual </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Heritage / Archaeology</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Ecology / Biodiversity </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Flood Risk and drainage </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Transport and access </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Amenity </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Agricultural Land</a:t>
            </a:r>
          </a:p>
          <a:p>
            <a:pPr marL="285750" indent="-285750">
              <a:lnSpc>
                <a:spcPct val="107000"/>
              </a:lnSpc>
              <a:spcAft>
                <a:spcPts val="800"/>
              </a:spcAft>
              <a:buFont typeface="Wingdings" panose="05000000000000000000" pitchFamily="2" charset="2"/>
              <a:buChar char="§"/>
            </a:pPr>
            <a:r>
              <a:rPr lang="en-GB" sz="1800" kern="100">
                <a:effectLst/>
                <a:latin typeface="Aptos" panose="020B0004020202020204" pitchFamily="34" charset="0"/>
                <a:ea typeface="Aptos" panose="020B0004020202020204" pitchFamily="34" charset="0"/>
                <a:cs typeface="Times New Roman" panose="02020603050405020304" pitchFamily="18" charset="0"/>
              </a:rPr>
              <a:t>Planning obligations</a:t>
            </a:r>
          </a:p>
          <a:p>
            <a:pPr>
              <a:lnSpc>
                <a:spcPct val="90000"/>
              </a:lnSpc>
              <a:spcAft>
                <a:spcPts val="600"/>
              </a:spcAft>
            </a:pPr>
            <a:r>
              <a:rPr lang="en-GB" sz="2000"/>
              <a:t> </a:t>
            </a:r>
          </a:p>
          <a:p>
            <a:pPr indent="-228600">
              <a:lnSpc>
                <a:spcPct val="90000"/>
              </a:lnSpc>
              <a:spcAft>
                <a:spcPts val="600"/>
              </a:spcAft>
              <a:buFont typeface="Arial" panose="020B0604020202020204" pitchFamily="34" charset="0"/>
              <a:buChar char="•"/>
            </a:pPr>
            <a:endParaRPr lang="en-US" sz="2000"/>
          </a:p>
        </p:txBody>
      </p:sp>
      <p:pic>
        <p:nvPicPr>
          <p:cNvPr id="16" name="Picture 15" descr="A logo with a black background&#10;&#10;Description automatically generated">
            <a:extLst>
              <a:ext uri="{FF2B5EF4-FFF2-40B4-BE49-F238E27FC236}">
                <a16:creationId xmlns:a16="http://schemas.microsoft.com/office/drawing/2014/main" id="{32C260A7-81D9-2C94-6A6B-6E7BE01D33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0855" y="361083"/>
            <a:ext cx="1772506" cy="856881"/>
          </a:xfrm>
          <a:prstGeom prst="rect">
            <a:avLst/>
          </a:prstGeom>
        </p:spPr>
      </p:pic>
      <p:sp>
        <p:nvSpPr>
          <p:cNvPr id="17" name="Rectangle 16">
            <a:extLst>
              <a:ext uri="{FF2B5EF4-FFF2-40B4-BE49-F238E27FC236}">
                <a16:creationId xmlns:a16="http://schemas.microsoft.com/office/drawing/2014/main" id="{7B360626-CFC2-B694-F09E-BD95E90F49E4}"/>
              </a:ext>
            </a:extLst>
          </p:cNvPr>
          <p:cNvSpPr/>
          <p:nvPr/>
        </p:nvSpPr>
        <p:spPr>
          <a:xfrm>
            <a:off x="-1" y="1076724"/>
            <a:ext cx="448057" cy="10263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83AF87FB-311B-72CB-988D-A5BEF8F5C972}"/>
              </a:ext>
            </a:extLst>
          </p:cNvPr>
          <p:cNvSpPr txBox="1"/>
          <p:nvPr/>
        </p:nvSpPr>
        <p:spPr>
          <a:xfrm>
            <a:off x="476250" y="329503"/>
            <a:ext cx="6094476" cy="400110"/>
          </a:xfrm>
          <a:prstGeom prst="rect">
            <a:avLst/>
          </a:prstGeom>
          <a:noFill/>
        </p:spPr>
        <p:txBody>
          <a:bodyPr wrap="square">
            <a:spAutoFit/>
          </a:bodyPr>
          <a:lstStyle/>
          <a:p>
            <a:r>
              <a:rPr lang="en-GB" sz="2000">
                <a:solidFill>
                  <a:schemeClr val="accent1">
                    <a:lumMod val="50000"/>
                  </a:schemeClr>
                </a:solidFill>
              </a:rPr>
              <a:t>Key Considerations</a:t>
            </a:r>
          </a:p>
        </p:txBody>
      </p:sp>
    </p:spTree>
    <p:extLst>
      <p:ext uri="{BB962C8B-B14F-4D97-AF65-F5344CB8AC3E}">
        <p14:creationId xmlns:p14="http://schemas.microsoft.com/office/powerpoint/2010/main" val="1807985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603D6D-5271-1215-70AE-BBDD12609129}"/>
              </a:ext>
            </a:extLst>
          </p:cNvPr>
          <p:cNvSpPr>
            <a:spLocks noGrp="1"/>
          </p:cNvSpPr>
          <p:nvPr>
            <p:ph type="ctrTitle"/>
          </p:nvPr>
        </p:nvSpPr>
        <p:spPr>
          <a:xfrm>
            <a:off x="838199" y="548464"/>
            <a:ext cx="3807187" cy="2228074"/>
          </a:xfrm>
        </p:spPr>
        <p:txBody>
          <a:bodyPr vert="horz" lIns="91440" tIns="45720" rIns="91440" bIns="45720" rtlCol="0" anchor="ctr">
            <a:normAutofit/>
          </a:bodyPr>
          <a:lstStyle/>
          <a:p>
            <a:pPr algn="l"/>
            <a:r>
              <a:rPr lang="en-US" sz="4000"/>
              <a:t>Green Belt Designation</a:t>
            </a:r>
          </a:p>
        </p:txBody>
      </p:sp>
      <p:sp>
        <p:nvSpPr>
          <p:cNvPr id="3" name="Subtitle 2">
            <a:extLst>
              <a:ext uri="{FF2B5EF4-FFF2-40B4-BE49-F238E27FC236}">
                <a16:creationId xmlns:a16="http://schemas.microsoft.com/office/drawing/2014/main" id="{B7853669-BA3C-A454-181D-8B25DE916F25}"/>
              </a:ext>
            </a:extLst>
          </p:cNvPr>
          <p:cNvSpPr>
            <a:spLocks noGrp="1"/>
          </p:cNvSpPr>
          <p:nvPr>
            <p:ph type="subTitle" idx="1"/>
          </p:nvPr>
        </p:nvSpPr>
        <p:spPr>
          <a:xfrm>
            <a:off x="838201" y="2962279"/>
            <a:ext cx="3799425" cy="3143241"/>
          </a:xfrm>
        </p:spPr>
        <p:txBody>
          <a:bodyPr vert="horz" lIns="91440" tIns="45720" rIns="91440" bIns="45720" rtlCol="0">
            <a:normAutofit/>
          </a:bodyPr>
          <a:lstStyle/>
          <a:p>
            <a:pPr marL="285750" indent="-228600" algn="l">
              <a:buFont typeface="Arial" panose="020B0604020202020204" pitchFamily="34" charset="0"/>
              <a:buChar char="•"/>
            </a:pPr>
            <a:r>
              <a:rPr lang="en-US" sz="1400"/>
              <a:t>A</a:t>
            </a:r>
            <a:r>
              <a:rPr lang="en-US" sz="1400" b="0" i="0" u="none" strike="noStrike" baseline="0"/>
              <a:t>pplication site is within the Greenbelt and in terms of existing policy is considered inappropriate development</a:t>
            </a:r>
          </a:p>
          <a:p>
            <a:pPr marL="285750" indent="-228600" algn="l">
              <a:buFont typeface="Arial" panose="020B0604020202020204" pitchFamily="34" charset="0"/>
              <a:buChar char="•"/>
            </a:pPr>
            <a:r>
              <a:rPr lang="en-US" sz="1400"/>
              <a:t>A</a:t>
            </a:r>
            <a:r>
              <a:rPr lang="en-US" sz="1400" b="0" i="0" u="none" strike="noStrike" baseline="0"/>
              <a:t>nalysis of the site’s contribution to the five purposes of the Green Belt as set out in the NPPF will accompany the planning application</a:t>
            </a:r>
          </a:p>
          <a:p>
            <a:pPr marL="285750" indent="-228600" algn="l">
              <a:buFont typeface="Arial" panose="020B0604020202020204" pitchFamily="34" charset="0"/>
              <a:buChar char="•"/>
            </a:pPr>
            <a:r>
              <a:rPr lang="en-US" sz="1400" b="0" i="0" u="none" strike="noStrike" baseline="0"/>
              <a:t>If necessary, a case for very special circumstances will support the proposal - including the wider environmental benefits associated with increased production of energy from renewable sources.</a:t>
            </a:r>
          </a:p>
          <a:p>
            <a:pPr indent="-228600" algn="l">
              <a:buFont typeface="Arial" panose="020B0604020202020204" pitchFamily="34" charset="0"/>
              <a:buChar char="•"/>
            </a:pPr>
            <a:endParaRPr lang="en-US" sz="1400"/>
          </a:p>
        </p:txBody>
      </p:sp>
      <p:pic>
        <p:nvPicPr>
          <p:cNvPr id="11" name="Content Placeholder 4" descr="A path with trees on the side of a lush green field&#10;&#10;Description automatically generated">
            <a:extLst>
              <a:ext uri="{FF2B5EF4-FFF2-40B4-BE49-F238E27FC236}">
                <a16:creationId xmlns:a16="http://schemas.microsoft.com/office/drawing/2014/main" id="{0B8560F8-3EF6-5F0C-D530-248FA0AD9679}"/>
              </a:ext>
            </a:extLst>
          </p:cNvPr>
          <p:cNvPicPr>
            <a:picLocks noChangeAspect="1"/>
          </p:cNvPicPr>
          <p:nvPr/>
        </p:nvPicPr>
        <p:blipFill rotWithShape="1">
          <a:blip r:embed="rId2">
            <a:extLst>
              <a:ext uri="{28A0092B-C50C-407E-A947-70E740481C1C}">
                <a14:useLocalDpi xmlns:a14="http://schemas.microsoft.com/office/drawing/2010/main" val="0"/>
              </a:ext>
            </a:extLst>
          </a:blip>
          <a:srcRect l="16488" r="18324"/>
          <a:stretch/>
        </p:blipFill>
        <p:spPr>
          <a:xfrm>
            <a:off x="5010386" y="10"/>
            <a:ext cx="7181613" cy="6857990"/>
          </a:xfrm>
          <a:prstGeom prst="rect">
            <a:avLst/>
          </a:prstGeom>
          <a:effectLst/>
        </p:spPr>
      </p:pic>
    </p:spTree>
    <p:extLst>
      <p:ext uri="{BB962C8B-B14F-4D97-AF65-F5344CB8AC3E}">
        <p14:creationId xmlns:p14="http://schemas.microsoft.com/office/powerpoint/2010/main" val="1213421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ogo with blue and green colors&#10;&#10;Description automatically generated">
            <a:extLst>
              <a:ext uri="{FF2B5EF4-FFF2-40B4-BE49-F238E27FC236}">
                <a16:creationId xmlns:a16="http://schemas.microsoft.com/office/drawing/2014/main" id="{33FE7625-B4D6-2905-352A-70C666B9B9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4196" y="89560"/>
            <a:ext cx="2050471" cy="991256"/>
          </a:xfrm>
          <a:prstGeom prst="rect">
            <a:avLst/>
          </a:prstGeom>
        </p:spPr>
      </p:pic>
      <p:sp>
        <p:nvSpPr>
          <p:cNvPr id="3" name="TextBox 2">
            <a:extLst>
              <a:ext uri="{FF2B5EF4-FFF2-40B4-BE49-F238E27FC236}">
                <a16:creationId xmlns:a16="http://schemas.microsoft.com/office/drawing/2014/main" id="{F1F1807F-39DE-2C2C-C441-4F61B96AE810}"/>
              </a:ext>
            </a:extLst>
          </p:cNvPr>
          <p:cNvSpPr txBox="1"/>
          <p:nvPr/>
        </p:nvSpPr>
        <p:spPr>
          <a:xfrm>
            <a:off x="532638" y="387994"/>
            <a:ext cx="6094476" cy="400110"/>
          </a:xfrm>
          <a:prstGeom prst="rect">
            <a:avLst/>
          </a:prstGeom>
          <a:noFill/>
        </p:spPr>
        <p:txBody>
          <a:bodyPr wrap="square">
            <a:spAutoFit/>
          </a:bodyPr>
          <a:lstStyle/>
          <a:p>
            <a:r>
              <a:rPr lang="en-GB" sz="2000">
                <a:solidFill>
                  <a:schemeClr val="accent1">
                    <a:lumMod val="50000"/>
                  </a:schemeClr>
                </a:solidFill>
              </a:rPr>
              <a:t>Scope of Supporting Information</a:t>
            </a:r>
          </a:p>
        </p:txBody>
      </p:sp>
      <p:sp>
        <p:nvSpPr>
          <p:cNvPr id="4" name="TextBox 3">
            <a:extLst>
              <a:ext uri="{FF2B5EF4-FFF2-40B4-BE49-F238E27FC236}">
                <a16:creationId xmlns:a16="http://schemas.microsoft.com/office/drawing/2014/main" id="{7A2E7992-ACCF-FD97-DF59-CC9F7A6E540A}"/>
              </a:ext>
            </a:extLst>
          </p:cNvPr>
          <p:cNvSpPr txBox="1"/>
          <p:nvPr/>
        </p:nvSpPr>
        <p:spPr>
          <a:xfrm>
            <a:off x="647333" y="1036854"/>
            <a:ext cx="10405872" cy="5596532"/>
          </a:xfrm>
          <a:prstGeom prst="rect">
            <a:avLst/>
          </a:prstGeom>
          <a:noFill/>
        </p:spPr>
        <p:txBody>
          <a:bodyPr wrap="square" rtlCol="0">
            <a:spAutoFit/>
          </a:bodyPr>
          <a:lstStyle/>
          <a:p>
            <a:r>
              <a:rPr lang="en-GB" sz="1500" b="0" i="0" u="none" strike="noStrike" baseline="0">
                <a:solidFill>
                  <a:srgbClr val="000000"/>
                </a:solidFill>
                <a:latin typeface="Calibri" panose="020F0502020204030204" pitchFamily="34" charset="0"/>
              </a:rPr>
              <a:t>Based on our understanding of the site context and the proposed validation requirements for this type of development we consider that the following might be required:</a:t>
            </a:r>
          </a:p>
          <a:p>
            <a:endParaRPr lang="en-GB" sz="1500" b="0" i="0" u="none" strike="noStrike" baseline="0">
              <a:solidFill>
                <a:srgbClr val="000000"/>
              </a:solidFill>
              <a:latin typeface="Calibri" panose="020F0502020204030204" pitchFamily="34" charset="0"/>
            </a:endParaRP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Flood Risk Assessment/SUDS/ Water Management Scheme</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Cultural Heritage Statement</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Noise Impact Assessment</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Agricultural Land Classification Report</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Levels survey information and cross sections</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Construction Traffic Management Plan</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Planning Statement/Statement of Community Involvement </a:t>
            </a:r>
            <a:r>
              <a:rPr lang="en-GB" sz="1500" b="0" i="0" u="none" strike="noStrike" baseline="0" err="1">
                <a:solidFill>
                  <a:srgbClr val="000000"/>
                </a:solidFill>
                <a:latin typeface="Calibri" panose="020F0502020204030204" pitchFamily="34" charset="0"/>
              </a:rPr>
              <a:t>inc</a:t>
            </a:r>
            <a:r>
              <a:rPr lang="en-GB" sz="1500" b="0" i="0" u="none" strike="noStrike" baseline="0">
                <a:solidFill>
                  <a:srgbClr val="000000"/>
                </a:solidFill>
                <a:latin typeface="Calibri" panose="020F0502020204030204" pitchFamily="34" charset="0"/>
              </a:rPr>
              <a:t> allocation specific as relevant</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Tree Survey</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Ecological Survey, Protected Species surveys and BNG proposals</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Landscape and Visual Impact Assessment</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Transport Assessment/ Statement</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Photographs and Photomontages</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Details of Materials (DAS)</a:t>
            </a:r>
          </a:p>
          <a:p>
            <a:pPr marL="285750" indent="-285750">
              <a:lnSpc>
                <a:spcPct val="150000"/>
              </a:lnSpc>
              <a:buFont typeface="Wingdings" panose="05000000000000000000" pitchFamily="2" charset="2"/>
              <a:buChar char="§"/>
            </a:pPr>
            <a:r>
              <a:rPr lang="en-GB" sz="1500" b="0" i="0" u="none" strike="noStrike" baseline="0">
                <a:solidFill>
                  <a:srgbClr val="000000"/>
                </a:solidFill>
                <a:latin typeface="Calibri" panose="020F0502020204030204" pitchFamily="34" charset="0"/>
              </a:rPr>
              <a:t>Glint &amp; Glare Assessment</a:t>
            </a:r>
            <a:endParaRPr lang="en-GB" sz="1500">
              <a:solidFill>
                <a:srgbClr val="000000"/>
              </a:solidFill>
              <a:latin typeface="Calibri" panose="020F0502020204030204" pitchFamily="34" charset="0"/>
            </a:endParaRPr>
          </a:p>
        </p:txBody>
      </p:sp>
    </p:spTree>
    <p:extLst>
      <p:ext uri="{BB962C8B-B14F-4D97-AF65-F5344CB8AC3E}">
        <p14:creationId xmlns:p14="http://schemas.microsoft.com/office/powerpoint/2010/main" val="887281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field with trees and a fence&#10;&#10;Description automatically generated">
            <a:extLst>
              <a:ext uri="{FF2B5EF4-FFF2-40B4-BE49-F238E27FC236}">
                <a16:creationId xmlns:a16="http://schemas.microsoft.com/office/drawing/2014/main" id="{9203F508-0347-073B-C1A2-9EE64611A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7943915"/>
          </a:xfrm>
          <a:prstGeom prst="rect">
            <a:avLst/>
          </a:prstGeom>
        </p:spPr>
      </p:pic>
      <p:pic>
        <p:nvPicPr>
          <p:cNvPr id="3" name="Picture 2" descr="A logo with a black background&#10;&#10;Description automatically generated">
            <a:extLst>
              <a:ext uri="{FF2B5EF4-FFF2-40B4-BE49-F238E27FC236}">
                <a16:creationId xmlns:a16="http://schemas.microsoft.com/office/drawing/2014/main" id="{1A9D660A-7399-46F5-57A6-5216AF8FAC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3143" y="4958021"/>
            <a:ext cx="2873830" cy="1389293"/>
          </a:xfrm>
          <a:prstGeom prst="rect">
            <a:avLst/>
          </a:prstGeom>
        </p:spPr>
      </p:pic>
      <p:sp>
        <p:nvSpPr>
          <p:cNvPr id="5" name="TextBox 4">
            <a:extLst>
              <a:ext uri="{FF2B5EF4-FFF2-40B4-BE49-F238E27FC236}">
                <a16:creationId xmlns:a16="http://schemas.microsoft.com/office/drawing/2014/main" id="{D7802E41-A0DD-DBF5-F193-5F9C6EFFCD7E}"/>
              </a:ext>
            </a:extLst>
          </p:cNvPr>
          <p:cNvSpPr txBox="1"/>
          <p:nvPr/>
        </p:nvSpPr>
        <p:spPr>
          <a:xfrm>
            <a:off x="1198809" y="5043816"/>
            <a:ext cx="6156960" cy="1303498"/>
          </a:xfrm>
          <a:prstGeom prst="rect">
            <a:avLst/>
          </a:prstGeom>
          <a:noFill/>
        </p:spPr>
        <p:txBody>
          <a:bodyPr wrap="square">
            <a:spAutoFit/>
          </a:bodyPr>
          <a:lstStyle/>
          <a:p>
            <a:pPr>
              <a:lnSpc>
                <a:spcPct val="90000"/>
              </a:lnSpc>
              <a:spcBef>
                <a:spcPct val="0"/>
              </a:spcBef>
              <a:spcAft>
                <a:spcPts val="1800"/>
              </a:spcAft>
            </a:pPr>
            <a:r>
              <a:rPr lang="en-GB" sz="1800">
                <a:solidFill>
                  <a:schemeClr val="bg1"/>
                </a:solidFill>
                <a:latin typeface="+mj-lt"/>
                <a:ea typeface="+mj-ea"/>
                <a:cs typeface="+mj-cs"/>
              </a:rPr>
              <a:t>Liz Alexander</a:t>
            </a:r>
          </a:p>
          <a:p>
            <a:pPr>
              <a:lnSpc>
                <a:spcPct val="90000"/>
              </a:lnSpc>
              <a:spcBef>
                <a:spcPct val="0"/>
              </a:spcBef>
              <a:spcAft>
                <a:spcPts val="1800"/>
              </a:spcAft>
            </a:pPr>
            <a:r>
              <a:rPr lang="en-GB" sz="1800">
                <a:solidFill>
                  <a:schemeClr val="bg1"/>
                </a:solidFill>
                <a:latin typeface="+mj-lt"/>
                <a:ea typeface="+mj-ea"/>
                <a:cs typeface="+mj-cs"/>
              </a:rPr>
              <a:t>Planning Director, Third Revolution Projects</a:t>
            </a:r>
          </a:p>
          <a:p>
            <a:pPr>
              <a:lnSpc>
                <a:spcPct val="90000"/>
              </a:lnSpc>
              <a:spcBef>
                <a:spcPct val="0"/>
              </a:spcBef>
              <a:spcAft>
                <a:spcPts val="1800"/>
              </a:spcAft>
            </a:pPr>
            <a:r>
              <a:rPr lang="en-GB" sz="1800">
                <a:solidFill>
                  <a:schemeClr val="bg1"/>
                </a:solidFill>
                <a:latin typeface="+mj-lt"/>
                <a:ea typeface="+mj-ea"/>
                <a:cs typeface="+mj-cs"/>
              </a:rPr>
              <a:t>liz.alexander@thirdrevolutionprojects.co.uk</a:t>
            </a:r>
          </a:p>
        </p:txBody>
      </p:sp>
    </p:spTree>
    <p:extLst>
      <p:ext uri="{BB962C8B-B14F-4D97-AF65-F5344CB8AC3E}">
        <p14:creationId xmlns:p14="http://schemas.microsoft.com/office/powerpoint/2010/main" val="2230647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724</Words>
  <Application>Microsoft Office PowerPoint</Application>
  <PresentationFormat>Widescreen</PresentationFormat>
  <Paragraphs>79</Paragraphs>
  <Slides>12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Calibri</vt:lpstr>
      <vt:lpstr>Quebec Serial Heavy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Green Belt Designation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PetraElo</dc:creator>
  <cp:lastModifiedBy>Josh Rogers</cp:lastModifiedBy>
  <cp:revision>1</cp:revision>
  <dcterms:created xsi:type="dcterms:W3CDTF">2024-09-26T09:27:41Z</dcterms:created>
  <dcterms:modified xsi:type="dcterms:W3CDTF">2026-09-30T12:54:17Z</dcterms:modified>
</cp:coreProperties>
</file>